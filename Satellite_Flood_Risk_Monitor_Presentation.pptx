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822960"/>
            <a:ext cx="4389120" cy="365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🛰️ HACKATHON INNOVATION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Satellite Flood Risk &amp; Relief Monitor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</a:defRPr>
            </a:pPr>
            <a:r>
              <a:t>Automated Sentinel-1 SAR Radar Flood Inundation Mapping, Real-Time Safe Evacuation Routing &amp; Community Relief Connector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91840"/>
            <a:ext cx="3328416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296265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🛰️ Nishtha Patel (CSE #1)</a:t>
            </a:r>
          </a:p>
          <a:p>
            <a:pPr>
              <a:defRPr sz="1300" b="1">
                <a:solidFill>
                  <a:srgbClr val="E2E8F0"/>
                </a:solidFill>
              </a:defRPr>
            </a:pPr>
            <a:r>
              <a:t>Lead Satellite Ingestion &amp; SAR Pipeline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Copernicus CDSE OAuth2 Automation</a:t>
            </a:r>
            <a:br/>
            <a:r>
              <a:t>• Radar Backscatter Attenuation &amp; Thresholding</a:t>
            </a:r>
            <a:br/>
            <a:r>
              <a:t>• Vector GeoJSON &amp; Flask REST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3291840"/>
            <a:ext cx="3328416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3474720"/>
            <a:ext cx="296265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💻 Mahathi (CSE #2)</a:t>
            </a:r>
          </a:p>
          <a:p>
            <a:pPr>
              <a:defRPr sz="1300" b="1">
                <a:solidFill>
                  <a:srgbClr val="E2E8F0"/>
                </a:solidFill>
              </a:defRPr>
            </a:pPr>
            <a:r>
              <a:t>Frontend Architecture &amp; Safe Routing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Leaflet.js Unified Dual-Portal UI/UX</a:t>
            </a:r>
            <a:br/>
            <a:r>
              <a:t>• Safe Route Finder (OSRM + Turf.js avoidance)</a:t>
            </a:r>
            <a:br/>
            <a:r>
              <a:t>• Spatial BBOX Indexing &amp; Mutual-Aid Hub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3291840"/>
            <a:ext cx="3328416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3474720"/>
            <a:ext cx="296265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⚙️ Rudra (Mechanical)</a:t>
            </a:r>
          </a:p>
          <a:p>
            <a:pPr>
              <a:defRPr sz="1300" b="1">
                <a:solidFill>
                  <a:srgbClr val="E2E8F0"/>
                </a:solidFill>
              </a:defRPr>
            </a:pPr>
            <a:r>
              <a:t>GIS Risk Analysis &amp; Disaster Economics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QGIS Multi-Criteria Hazard Scoring</a:t>
            </a:r>
            <a:br/>
            <a:r>
              <a:t>• Hospital &amp; Road Infrastructure Exposure</a:t>
            </a:r>
            <a:br/>
            <a:r>
              <a:t>• Operational Feasibility &amp; Impact Modeling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🌐 Live Deployment: https://flood-risk-monitor.onrender.com/    |    📂 GitHub: github.com/nishtha1111/flood_risk_monitor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CONTEXT &amp; GROUND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Disaster Bottlenecks in Monsoon Flood Response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C2626"/>
                </a:solidFill>
              </a:defRPr>
            </a:pPr>
            <a:r>
              <a:t>🌧️ Optical Satellites Fail in Monsoons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Traditional optical satellites (Sentinel-2, Landsat, MODIS) cannot penetrate dense monsoon cloud cover and heavy rainfall. In peak floods, rescue authorities are left completely blind for days.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97706"/>
                </a:solidFill>
              </a:defRPr>
            </a:pPr>
            <a:r>
              <a:t>🚗 Standard Navigation Traps Rescue Teams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Commercial routing platforms (Google Maps, Apple Maps) lack real-time inundation boundaries. They blindly navigate relief trucks and ambulances straight into submerged highways and washed-out bridges.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97706"/>
                </a:solidFill>
              </a:defRPr>
            </a:pPr>
            <a:r>
              <a:t>⏳ 6–8 Hour Manual GIS Processing Delays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Existing disaster GIS workflows require manual satellite downloading, calibration, and human polygon tracing. By the time maps reach ground commanders, floodwaters have already shifted.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114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C2626"/>
                </a:solidFill>
              </a:defRPr>
            </a:pPr>
            <a:r>
              <a:t>📦 Disconnected Mutual-Aid Logistics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Grassroots volunteers with boats and food supplies have no spatial visibility into where cut-off victims are stranded. SOS calls on social media lack verified geographic coordinates and hazard contexts.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HOW THE SOLUTION OPERATES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End-to-End Automated 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28416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1. Ingestion &amp; SAR Science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🛰️ Copernicus CDSE Poller</a:t>
            </a:r>
          </a:p>
          <a:p>
            <a:pPr>
              <a:spcAft>
                <a:spcPts val="800"/>
              </a:spcAft>
              <a:defRPr sz="1200">
                <a:solidFill>
                  <a:srgbClr val="64748B"/>
                </a:solidFill>
              </a:defRPr>
            </a:pPr>
            <a:r>
              <a:t>• Automated OAuth2 API token refresh</a:t>
            </a:r>
            <a:br/>
            <a:r>
              <a:t>• WKT bounding-box intersection query over Assam basin</a:t>
            </a:r>
            <a:br/>
            <a:r>
              <a:t>• Grabs newest Sentinel-1 IW GRDH 1SDV scene (~6–12d revisit)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⚡ Radar Physics Engine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• Water specular reflection backscatter delta:</a:t>
            </a:r>
            <a:br/>
            <a:r>
              <a:t>  Δσ⁰ (dB) = 10 log₁₀(σ_during / σ_before)</a:t>
            </a:r>
            <a:br/>
            <a:r>
              <a:t>• Specular attenuation threshold (≤ -3.5 dB)</a:t>
            </a:r>
            <a:br/>
            <a:r>
              <a:t>• Morphological cleaning &amp; polygon extraction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63040"/>
            <a:ext cx="3328416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2. Backend REST API &amp; Archival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📁 Versioned Storage Layer</a:t>
            </a:r>
          </a:p>
          <a:p>
            <a:pPr>
              <a:spcAft>
                <a:spcPts val="800"/>
              </a:spcAft>
              <a:defRPr sz="1200">
                <a:solidFill>
                  <a:srgbClr val="64748B"/>
                </a:solidFill>
              </a:defRPr>
            </a:pPr>
            <a:r>
              <a:t>• Stores historical runs in output/history/&lt;scene_id&gt;/</a:t>
            </a:r>
            <a:br/>
            <a:r>
              <a:t>• Tracks temporal flood area (km²) &amp; polygon counts</a:t>
            </a:r>
            <a:br/>
            <a:r>
              <a:t>• Atomic sync to root flood_extent.geojson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🔌 Live Flask / Gunicorn API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• GET /api/metadata (Active satellite &amp; pass date)</a:t>
            </a:r>
            <a:br/>
            <a:r>
              <a:t>• GET /api/flood-extent/latest (Polygons)</a:t>
            </a:r>
            <a:br/>
            <a:r>
              <a:t>• POST /api/pipeline/trigger (On-demand)</a:t>
            </a:r>
            <a:br/>
            <a:r>
              <a:t>• Dynamic $PORT binding &amp; Gunicorn WSGI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463040"/>
            <a:ext cx="3328416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3. Decision Support &amp; Routing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🗺️ Leaflet.js Operations Portal</a:t>
            </a:r>
          </a:p>
          <a:p>
            <a:pPr>
              <a:spcAft>
                <a:spcPts val="800"/>
              </a:spcAft>
              <a:defRPr sz="1200">
                <a:solidFill>
                  <a:srgbClr val="64748B"/>
                </a:solidFill>
              </a:defRPr>
            </a:pPr>
            <a:r>
              <a:t>• High-contrast vector layers (Flood, Risk, Roads, Hospitals)</a:t>
            </a:r>
            <a:br/>
            <a:r>
              <a:t>• 60s auto-refresh polling with live stream badge</a:t>
            </a:r>
            <a:br/>
            <a:r>
              <a:t>• Responsive mobile drawer &amp; accessible UI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🛡️ Turf.js + OSRM Safe Router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• Real-time road vs flood intersection tests</a:t>
            </a:r>
            <a:br/>
            <a:r>
              <a:t>• Dynamic 4-directional dry detour bypasses</a:t>
            </a:r>
            <a:br/>
            <a:r>
              <a:t>• Spatial BBOX pre-filtering index (&lt; 2ms)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NISHTHA PATEL (CSE #1) — BACKEND &amp; SATELLITE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SAR Radar Physics &amp; Automated Data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📡 Radar Reflection Physics &amp; Specular Attenuation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• All-Weather C-Band SAR: Sentinel-1 emits 5.405 GHz microwave pulses that completely ignore clouds, monsoon rain, and darkness.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• Specular Surface Reflection: Dry ground and forest create rough diffuse scatter (high backscatter dB: -12 to -8 dB). Smooth standing water reflects radar pulses away like a mirror (low backscatter dB: -22 to -18 dB).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• Change Detection Algorithm: Ratio between pre-flood baseline (29 June 2024) and peak inundation (11 July 2024) isolates exact flooded pixels with morphological speckle filtering.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106984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59669"/>
                </a:solidFill>
              </a:defRPr>
            </a:pPr>
            <a:r>
              <a:t>⚙️ Automated Semi-Live Ingestion &amp; Export Engine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• Programmatic Copernicus Ingestion: ingest_sentinel1.py queries OData catalogue for IW_GRDH_1SDV products over the AOI [90.64, 25.09, 93.16, 26.70] with OAuth2 credentials and open fallback.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• State Tracking Manifest: data/manifest.json compares scene timestamps to skip redundant processing during the 6–12 day orbital revisit cycle.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• Vectorized GeoJSON Export: detect_flood.py automatically converts cleaned binary raster masks into EPSG:4326 WGS84 GeoJSON polygons with total area calculations (723.94 km² active extent).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MAHATHI (CSE #2) — FRONTEND ARCHITECTURE &amp; UI/UX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Unified GIS Operations Dashboard &amp; UI/UX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28416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🗺️ Dual-View Unified Portal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• Seamless View Switcher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Easily toggle between field Operations Map and deep Satellite Analytics without reloading.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• High-Contrast GIS Layers</a:t>
            </a:r>
          </a:p>
          <a:p>
            <a:pPr>
              <a:defRPr sz="1250">
                <a:solidFill>
                  <a:srgbClr val="0F172A"/>
                </a:solidFill>
              </a:defRPr>
            </a:pPr>
            <a:r>
              <a:t>Independent layer toggles for Flood Extent, High/Med/Low Risk zones, Roads, and Hospitals with WCAG AA compliant solid black text (#000000).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63040"/>
            <a:ext cx="3328416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🛰️ Simplified Live Telemetry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• Human-Centric Status Card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Shows clear Acquisition Date (Aug 21, 2026 05:24 AM), ~6–12 Day Revisit Interval, and pulsing green LIVE badge.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• Collapsible Technical Scene</a:t>
            </a:r>
          </a:p>
          <a:p>
            <a:pPr>
              <a:defRPr sz="1250">
                <a:solidFill>
                  <a:srgbClr val="0F172A"/>
                </a:solidFill>
              </a:defRPr>
            </a:pPr>
            <a:r>
              <a:t>Raw satellite product hashes tucked neatly inside an expandable details toggle for developer debugging.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463040"/>
            <a:ext cx="3328416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🔄 Live Polling &amp; Controls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• Flicker-Free Dynamic Updates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Auto-polls backend API every 60s. Ingests fresh polygons seamlessly without resetting map view or zooming.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• Manual Satellite Trigger</a:t>
            </a:r>
          </a:p>
          <a:p>
            <a:pPr>
              <a:defRPr sz="1250">
                <a:solidFill>
                  <a:srgbClr val="0F172A"/>
                </a:solidFill>
              </a:defRPr>
            </a:pPr>
            <a:r>
              <a:t>Interactive [🔄 Check Satellite] button initiates on-demand pipeline polling with live toast alerts.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MAHATHI (CSE #2) — SPATIAL ROUTING &amp;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Hazard-Aware Safe Route Finder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🛡️ Dynamic Flood Avoidance Algorithm</a:t>
            </a:r>
          </a:p>
          <a:p>
            <a:pPr>
              <a:defRPr sz="1300" b="1">
                <a:solidFill>
                  <a:srgbClr val="0369A1"/>
                </a:solidFill>
              </a:defRPr>
            </a:pPr>
            <a:r>
              <a:t>1. Point-in-Polygon Origin/Dest Check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Instantly evaluates if the user's start or target hospital is submerged in floodwaters.</a:t>
            </a:r>
          </a:p>
          <a:p>
            <a:pPr>
              <a:defRPr sz="1300" b="1">
                <a:solidFill>
                  <a:srgbClr val="0369A1"/>
                </a:solidFill>
              </a:defRPr>
            </a:pPr>
            <a:r>
              <a:t>2. Multi-Candidate OSRM Pathfinding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Fetches primary and alternative highway geometries via Open Source Routing Machine (OSRM).</a:t>
            </a:r>
          </a:p>
          <a:p>
            <a:pPr>
              <a:defRPr sz="1300" b="1">
                <a:solidFill>
                  <a:srgbClr val="0369A1"/>
                </a:solidFill>
              </a:defRPr>
            </a:pPr>
            <a:r>
              <a:t>3. Dynamic 4-Directional Bypass Detour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If primary road is cut by water, automatically tests North/South/East/West elevated bypass waypoints (~5km buffer) to find a dry corridor.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59669"/>
                </a:solidFill>
              </a:defRPr>
            </a:pPr>
            <a:r>
              <a:t>⚡ Spatial BBOX Indexing (4.6x Speedup)</a:t>
            </a:r>
          </a:p>
          <a:p>
            <a:pPr>
              <a:defRPr sz="1300" b="1">
                <a:solidFill>
                  <a:srgbClr val="047857"/>
                </a:solidFill>
              </a:defRPr>
            </a:pPr>
            <a:r>
              <a:t>• The Bottleneck Solved: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Testing candidate routes against 221 complex flood polygons across Assam used to take seconds and freeze the browser.</a:t>
            </a:r>
          </a:p>
          <a:p>
            <a:pPr>
              <a:defRPr sz="1300" b="1">
                <a:solidFill>
                  <a:srgbClr val="047857"/>
                </a:solidFill>
              </a:defRPr>
            </a:pPr>
            <a:r>
              <a:t>• Spatial BBOX Pre-Filtering (&lt; 2ms):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Pre-computes [minX, minY, maxX, maxY] for each polygon. Fast O(1) rectangle overlap rejects 98% of distant polygons instantly.</a:t>
            </a:r>
          </a:p>
          <a:p>
            <a:pPr>
              <a:defRPr sz="1300" b="1">
                <a:solidFill>
                  <a:srgbClr val="047857"/>
                </a:solidFill>
              </a:defRPr>
            </a:pPr>
            <a:r>
              <a:t>• Timeout Guards &amp; Memory LRU Cache: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Concurrent Promise.all detour queries, strict 4.5s timeout with emergency vector fallback, and sub-millisecond route caching.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HUMANITARIAN COORDINATION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Community Relief Hub — Decentralized Mutual Aid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28416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C2626"/>
                </a:solidFill>
              </a:defRPr>
            </a:pPr>
            <a:r>
              <a:t>🚨 Emergency SOS Requests</a:t>
            </a:r>
          </a:p>
          <a:p>
            <a:pPr>
              <a:defRPr sz="1400" b="1">
                <a:solidFill>
                  <a:srgbClr val="DC2626"/>
                </a:solidFill>
              </a:defRPr>
            </a:pPr>
            <a:r>
              <a:t>• Direct Citizen Request Form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Allows stranded flood victims to request urgent assistance with category tagging:</a:t>
            </a:r>
            <a:br/>
            <a:r>
              <a:t>• 🍞 Food / Drinking Water</a:t>
            </a:r>
            <a:br/>
            <a:r>
              <a:t>• 💊 Emergency Medical Aid</a:t>
            </a:r>
            <a:br/>
            <a:r>
              <a:t>• 🚤 Boat Evacuation Needed</a:t>
            </a:r>
            <a:br/>
            <a:r>
              <a:t>• ⛺ Emergency Shelter</a:t>
            </a:r>
          </a:p>
          <a:p>
            <a:pPr>
              <a:defRPr sz="1400" b="1">
                <a:solidFill>
                  <a:srgbClr val="DC2626"/>
                </a:solidFill>
              </a:defRPr>
            </a:pPr>
            <a:r>
              <a:t>• Urgent Priority Flags</a:t>
            </a:r>
          </a:p>
          <a:p>
            <a:pPr>
              <a:defRPr sz="1250">
                <a:solidFill>
                  <a:srgbClr val="0F172A"/>
                </a:solidFill>
              </a:defRPr>
            </a:pPr>
            <a:r>
              <a:t>Marks high-severity cases (infants, elderly, critical illness) with pulsating red map pins.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63040"/>
            <a:ext cx="3328416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59669"/>
                </a:solidFill>
              </a:defRPr>
            </a:pPr>
            <a:r>
              <a:t>🤝 Volunteer Supply Offers</a:t>
            </a:r>
          </a:p>
          <a:p>
            <a:pPr>
              <a:defRPr sz="1400" b="1">
                <a:solidFill>
                  <a:srgbClr val="059669"/>
                </a:solidFill>
              </a:defRPr>
            </a:pPr>
            <a:r>
              <a:t>• Aid Registration Hub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NGOs and local volunteers register available relief resources:</a:t>
            </a:r>
            <a:br/>
            <a:r>
              <a:t>• Dry ration kits &amp; clean water tanks</a:t>
            </a:r>
            <a:br/>
            <a:r>
              <a:t>• First-aid &amp; medical supplies</a:t>
            </a:r>
            <a:br/>
            <a:r>
              <a:t>• Inflatable rescue dinghies</a:t>
            </a:r>
            <a:br/>
            <a:r>
              <a:t>• Community kitchen locations</a:t>
            </a:r>
          </a:p>
          <a:p>
            <a:pPr>
              <a:defRPr sz="1400" b="1">
                <a:solidFill>
                  <a:srgbClr val="059669"/>
                </a:solidFill>
              </a:defRPr>
            </a:pPr>
            <a:r>
              <a:t>• Contact &amp; Delivery Trigger</a:t>
            </a:r>
          </a:p>
          <a:p>
            <a:pPr>
              <a:defRPr sz="1250">
                <a:solidFill>
                  <a:srgbClr val="0F172A"/>
                </a:solidFill>
              </a:defRPr>
            </a:pPr>
            <a:r>
              <a:t>Provides direct phone dialer and WhatsApp triggers for rapid field dispatch.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463040"/>
            <a:ext cx="3328416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📍 Live Spatial Matching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• Interactive Map Pins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All supply drops (green markers) and SOS requests (red markers) render live alongside flood extent polygons.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• Local Storage Persistence</a:t>
            </a:r>
          </a:p>
          <a:p>
            <a:pPr>
              <a:defRPr sz="1250">
                <a:solidFill>
                  <a:srgbClr val="0F172A"/>
                </a:solidFill>
              </a:defRPr>
            </a:pPr>
            <a:r>
              <a:t>Stores community items across browser sessions, with quick filters by resource category and urgency.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RUDRA (MECHANICAL) — GIS RISK ANALYST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GIS Multi-Criteria Risk Modeling &amp; Infrastructure Exposure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📊 Multi-Criteria Hazard Scoring (QGIS)</a:t>
            </a:r>
          </a:p>
          <a:p>
            <a:pPr>
              <a:defRPr sz="1300" b="1">
                <a:solidFill>
                  <a:srgbClr val="0369A1"/>
                </a:solidFill>
              </a:defRPr>
            </a:pPr>
            <a:r>
              <a:t>• Multi-Factor Risk Formula:</a:t>
            </a:r>
          </a:p>
          <a:p>
            <a:pPr>
              <a:spcAft>
                <a:spcPts val="600"/>
              </a:spcAft>
              <a:defRPr sz="1200">
                <a:solidFill>
                  <a:srgbClr val="64748B"/>
                </a:solidFill>
              </a:defRPr>
            </a:pPr>
            <a:r>
              <a:t>Risk = w_f·(Flood Depth/Extent) + w_h·(1 / Dist_Hospital) + w_r·(Road Severance Index)</a:t>
            </a:r>
          </a:p>
          <a:p>
            <a:pPr>
              <a:defRPr sz="1300" b="1">
                <a:solidFill>
                  <a:srgbClr val="0369A1"/>
                </a:solidFill>
              </a:defRPr>
            </a:pPr>
            <a:r>
              <a:t>• Classified Risk Distribution: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🔴 High Risk: 272.15 km² (41.22%)</a:t>
            </a:r>
            <a:br/>
            <a:r>
              <a:t>   Submerged areas within 2km of hospitals or blocking main arterial highways.</a:t>
            </a:r>
            <a:br/>
            <a:br/>
            <a:r>
              <a:t>🟠 Medium Risk: 190.55 km² (28.86%)</a:t>
            </a:r>
            <a:br/>
            <a:r>
              <a:t>   Flooded secondary agricultural and local road networks.</a:t>
            </a:r>
            <a:br/>
            <a:br/>
            <a:r>
              <a:t>🟢 Low Risk: 197.55 km² (29.92%)</a:t>
            </a:r>
            <a:br/>
            <a:r>
              <a:t>   Inundated open floodplains far from human settlement.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🏥 Critical Asset Exposure &amp; Logistics</a:t>
            </a:r>
          </a:p>
          <a:p>
            <a:pPr>
              <a:defRPr sz="1300" b="1">
                <a:solidFill>
                  <a:srgbClr val="0369A1"/>
                </a:solidFill>
              </a:defRPr>
            </a:pPr>
            <a:r>
              <a:t>• 20+ Hospitals Actively Monitored</a:t>
            </a:r>
          </a:p>
          <a:p>
            <a:pPr>
              <a:spcAft>
                <a:spcPts val="800"/>
              </a:spcAft>
              <a:defRPr sz="1200">
                <a:solidFill>
                  <a:srgbClr val="64748B"/>
                </a:solidFill>
              </a:defRPr>
            </a:pPr>
            <a:r>
              <a:t>Tracks emergency bed capacities, surgical centers, and access road status across Kamrup, Barpeta, and Goalpara districts.</a:t>
            </a:r>
          </a:p>
          <a:p>
            <a:pPr>
              <a:defRPr sz="1300" b="1">
                <a:solidFill>
                  <a:srgbClr val="0369A1"/>
                </a:solidFill>
              </a:defRPr>
            </a:pPr>
            <a:r>
              <a:t>• Road Cut-Off Proactive Warning</a:t>
            </a:r>
          </a:p>
          <a:p>
            <a:pPr>
              <a:spcAft>
                <a:spcPts val="800"/>
              </a:spcAft>
              <a:defRPr sz="1200">
                <a:solidFill>
                  <a:srgbClr val="64748B"/>
                </a:solidFill>
              </a:defRPr>
            </a:pPr>
            <a:r>
              <a:t>Identifies critical transport corridors at risk of complete isolation before peak water levels crest, allowing early medical airlifts and oxygen stockpiling.</a:t>
            </a:r>
          </a:p>
          <a:p>
            <a:pPr>
              <a:defRPr sz="1300" b="1">
                <a:solidFill>
                  <a:srgbClr val="0369A1"/>
                </a:solidFill>
              </a:defRPr>
            </a:pPr>
            <a:r>
              <a:t>• Actionable Relief Prioritization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Directs NDRF/SDRF boat crews to High Risk zones first, maximizing lives saved per rescue sortie.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VISUAL PROOF OF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Satellite SAR Analytics &amp; Image Comparison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1. Pre-Flood Baseline</a:t>
            </a:r>
          </a:p>
          <a:p>
            <a:pPr>
              <a:defRPr sz="1200" b="1">
                <a:solidFill>
                  <a:srgbClr val="0369A1"/>
                </a:solidFill>
              </a:defRPr>
            </a:pPr>
            <a:r>
              <a:t>📅 29 June 2024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• Sentinel-1 SAR Base</a:t>
            </a:r>
            <a:br/>
            <a:r>
              <a:t>• Normal Brahmaputra river channel</a:t>
            </a:r>
            <a:br/>
            <a:r>
              <a:t>• High backscatter return across dry agricultural land</a:t>
            </a:r>
            <a:br/>
            <a:r>
              <a:t>• VV/VH polarization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463040"/>
            <a:ext cx="24688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9312" y="164592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C2626"/>
                </a:solidFill>
              </a:defRPr>
            </a:pPr>
            <a:r>
              <a:t>2. Peak Flood Capture</a:t>
            </a:r>
          </a:p>
          <a:p>
            <a:pPr>
              <a:defRPr sz="1200" b="1">
                <a:solidFill>
                  <a:srgbClr val="DC2626"/>
                </a:solidFill>
              </a:defRPr>
            </a:pPr>
            <a:r>
              <a:t>📅 11 July 2024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• Peak Inundation Pass</a:t>
            </a:r>
            <a:br/>
            <a:r>
              <a:t>• Massive specular reflection expansion</a:t>
            </a:r>
            <a:br/>
            <a:r>
              <a:t>• Widespread signal attenuation across rural districts</a:t>
            </a:r>
            <a:br/>
            <a:r>
              <a:t>• Acquired through thick monsoon cloud cover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463040"/>
            <a:ext cx="24688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4224" y="164592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97706"/>
                </a:solidFill>
              </a:defRPr>
            </a:pPr>
            <a:r>
              <a:t>3. SAR Change Heatmap</a:t>
            </a:r>
          </a:p>
          <a:p>
            <a:pPr>
              <a:defRPr sz="1200" b="1">
                <a:solidFill>
                  <a:srgbClr val="D97706"/>
                </a:solidFill>
              </a:defRPr>
            </a:pPr>
            <a:r>
              <a:t>Δσ⁰ Difference (dB)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• Backscatter Delta Ratio</a:t>
            </a:r>
            <a:br/>
            <a:r>
              <a:t>• Highlights exact zones of sudden radar signal loss</a:t>
            </a:r>
            <a:br/>
            <a:r>
              <a:t>• Eliminates permanent water bodies to isolate new flood extent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463040"/>
            <a:ext cx="24688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89136" y="164592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59669"/>
                </a:solidFill>
              </a:defRPr>
            </a:pPr>
            <a:r>
              <a:t>4. Classified Flood Mask</a:t>
            </a:r>
          </a:p>
          <a:p>
            <a:pPr>
              <a:defRPr sz="1200" b="1">
                <a:solidFill>
                  <a:srgbClr val="059669"/>
                </a:solidFill>
              </a:defRPr>
            </a:pPr>
            <a:r>
              <a:t>Vector Extent Mask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• 723.94 km² Extent</a:t>
            </a:r>
            <a:br/>
            <a:r>
              <a:t>• Thresholded &amp; morphologically cleaned</a:t>
            </a:r>
            <a:br/>
            <a:r>
              <a:t>• Converted to WGS84 GeoJSON polygons for Leaflet rendering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PRODUCTION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Complete Technology Stack &amp;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🛰️ Satellite Data &amp; Sourcing</a:t>
            </a:r>
          </a:p>
          <a:p>
            <a:pPr>
              <a:defRPr sz="1250">
                <a:solidFill>
                  <a:srgbClr val="0F172A"/>
                </a:solidFill>
              </a:defRPr>
            </a:pPr>
            <a:r>
              <a:t>Copernicus Data Space Ecosystem (CDSE)  •  Sentinel-1 C-Band SAR (5.405 GHz)  •  OpenStreetMap (OSM) Road Infrastructure Graphs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06984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⚙️ Data Processing &amp; GIS Analytics</a:t>
            </a:r>
          </a:p>
          <a:p>
            <a:pPr>
              <a:defRPr sz="1250">
                <a:solidFill>
                  <a:srgbClr val="0F172A"/>
                </a:solidFill>
              </a:defRPr>
            </a:pPr>
            <a:r>
              <a:t>Python 3.14  •  Rasterio  •  GeoPandas  •  Shapely  •  Scipy Ndimage  •  QGIS 3.x Spatial Analysis &amp; Proximity Buffering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106984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💻 Backend API &amp; Web GIS Frontend</a:t>
            </a:r>
          </a:p>
          <a:p>
            <a:pPr>
              <a:defRPr sz="1250">
                <a:solidFill>
                  <a:srgbClr val="0F172A"/>
                </a:solidFill>
              </a:defRPr>
            </a:pPr>
            <a:r>
              <a:t>Flask REST API  •  Gunicorn WSGI  •  Leaflet.js 1.9  •  Turf.js Spatial Math  •  OSRM Highway Routing Engine  •  HTML5/CSS3/Vanilla JS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29200"/>
            <a:ext cx="106984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21208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59669"/>
                </a:solidFill>
              </a:defRPr>
            </a:pPr>
            <a:r>
              <a:t>☁️ Cloud Deployment &amp; Version Control</a:t>
            </a:r>
          </a:p>
          <a:p>
            <a:pPr>
              <a:defRPr sz="1250">
                <a:solidFill>
                  <a:srgbClr val="0F172A"/>
                </a:solidFill>
              </a:defRPr>
            </a:pPr>
            <a:r>
              <a:t>Render Cloud Web Service (Dynamic $PORT)  •  Procfile / render.yaml  •  Git / GitHub CI/CD  •  100% Open 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RUDRA (MECHANICAL) — ECONOMICS &amp; 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Operational Feasibility, Scalability &amp; Disaster Economics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28416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59669"/>
                </a:solidFill>
              </a:defRPr>
            </a:pPr>
            <a:r>
              <a:t>💰 Zero Licensing Costs</a:t>
            </a:r>
          </a:p>
          <a:p>
            <a:pPr>
              <a:defRPr sz="1400" b="1">
                <a:solidFill>
                  <a:srgbClr val="059669"/>
                </a:solidFill>
              </a:defRPr>
            </a:pPr>
            <a:r>
              <a:t>• 100% Free Data Streams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Sentinel-1 radar imagery is free under the European Space Agency (ESA) Open Access policy. OpenStreetMap road networks are free and globally maintained.</a:t>
            </a:r>
          </a:p>
          <a:p>
            <a:pPr>
              <a:defRPr sz="1400" b="1">
                <a:solidFill>
                  <a:srgbClr val="059669"/>
                </a:solidFill>
              </a:defRPr>
            </a:pPr>
            <a:r>
              <a:t>• No Commercial GIS Licenses</a:t>
            </a:r>
          </a:p>
          <a:p>
            <a:pPr>
              <a:defRPr sz="1250">
                <a:solidFill>
                  <a:srgbClr val="0F172A"/>
                </a:solidFill>
              </a:defRPr>
            </a:pPr>
            <a:r>
              <a:t>Eliminates multi-thousand dollar proprietary ArcGIS / satellite licenses, making it accessible to developing state disaster departments.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63040"/>
            <a:ext cx="3328416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⚡ Extreme Scalability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• Client-Side Distributed Math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Spatial polygon collision testing and route avoidance are executed client-side via Turf.js in the user's browser.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• Server Never Crashes</a:t>
            </a:r>
          </a:p>
          <a:p>
            <a:pPr>
              <a:defRPr sz="1250">
                <a:solidFill>
                  <a:srgbClr val="0F172A"/>
                </a:solidFill>
              </a:defRPr>
            </a:pPr>
            <a:r>
              <a:t>Because route calculation is offloaded to client devices, thousands of simultaneous disaster evacuees can use the system without overloading the server.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463040"/>
            <a:ext cx="3328416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🌍 Global Portability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• Universal Applicability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By simply changing the bounding-box coordinates, our pipeline instantly adapts to any flood-prone river basin globally (Ganges, Mississippi, Mekong, Rhine).</a:t>
            </a:r>
          </a:p>
          <a:p>
            <a:pPr>
              <a:defRPr sz="1400" b="1">
                <a:solidFill>
                  <a:srgbClr val="0369A1"/>
                </a:solidFill>
              </a:defRPr>
            </a:pPr>
            <a:r>
              <a:t>• Minimal Infrastructure Cost</a:t>
            </a:r>
          </a:p>
          <a:p>
            <a:pPr>
              <a:defRPr sz="1250">
                <a:solidFill>
                  <a:srgbClr val="0F172A"/>
                </a:solidFill>
              </a:defRPr>
            </a:pPr>
            <a:r>
              <a:t>Runs comfortably on lightweight cloud servers costing less than $10/month per state authority.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Disaster Management Impact &amp; Summary</a:t>
            </a:r>
          </a:p>
          <a:p>
            <a:pPr>
              <a:spcBef>
                <a:spcPts val="400"/>
              </a:spcBef>
              <a:defRPr sz="1500">
                <a:solidFill>
                  <a:srgbClr val="94A3B8"/>
                </a:solidFill>
              </a:defRPr>
            </a:pPr>
            <a:r>
              <a:t>Transforming Space Radar Intelligence into Ground-Level Life-Saving Action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3328416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29626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⏱️ 6h ➔ 30s Latency</a:t>
            </a:r>
          </a:p>
          <a:p>
            <a:pPr>
              <a:defRPr sz="1400" b="1">
                <a:solidFill>
                  <a:srgbClr val="E2E8F0"/>
                </a:solidFill>
              </a:defRPr>
            </a:pPr>
            <a:r>
              <a:t>Rapid Decision Speed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Replaces 6–8 hours of manual satellite downloading and GIS polygon tracing with an automated 30-second pipeline execution, delivering actionable maps before floodwaters shift.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2011680"/>
            <a:ext cx="3328416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08576" y="2194560"/>
            <a:ext cx="29626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59669"/>
                </a:solidFill>
              </a:defRPr>
            </a:pPr>
            <a:r>
              <a:t>🚑 Zero Stranded Teams</a:t>
            </a:r>
          </a:p>
          <a:p>
            <a:pPr>
              <a:defRPr sz="1400" b="1">
                <a:solidFill>
                  <a:srgbClr val="E2E8F0"/>
                </a:solidFill>
              </a:defRPr>
            </a:pPr>
            <a:r>
              <a:t>First Responder Safety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Safe Route Finder actively prevents ambulances and relief trucks from entering submerged road corridors by enforcing dry bypass routes and warning of severed infrastructure.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2011680"/>
            <a:ext cx="3328416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2752" y="2194560"/>
            <a:ext cx="29626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97706"/>
                </a:solidFill>
              </a:defRPr>
            </a:pPr>
            <a:r>
              <a:t>🤝 Localized Mutual Aid</a:t>
            </a:r>
          </a:p>
          <a:p>
            <a:pPr>
              <a:defRPr sz="1400" b="1">
                <a:solidFill>
                  <a:srgbClr val="E2E8F0"/>
                </a:solidFill>
              </a:defRPr>
            </a:pPr>
            <a:r>
              <a:t>Empowering Communities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Connects stranded victims needing water, medical aid, or boats directly to volunteer donors on the map, removing bureaucratic delays in grassroots relief distribution.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🌐 Live Application: https://flood-risk-monitor.onrender.com/    |    Ready for Immediate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