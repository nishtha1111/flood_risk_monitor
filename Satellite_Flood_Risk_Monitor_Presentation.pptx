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judges. We are presenting the Satellite Flood Risk &amp; Relief Monitor. Our team combines satellite data engineering, real-time spatial pathfinding, and GIS risk modeling to solve critical disaster management bottlenecks.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catastrophic events like the Assam floods, standard satellite monitoring fails because clouds block optical sensors. Meanwhile, first responders navigating via standard GPS apps get trapped in floodwaters, and manual GIS maps arrive hours too late.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end-to-end architecture. The pipeline automatically checks Copernicus every 60 seconds, runs radar change detection, exposes live REST endpoints, and feeds our Leaflet frontend and Safe Route Finder.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Nishtha's part: Explaining how Sentinel-1's C-band radar penetrates clouds, how water reflects microwaves away to create dark backscatter deltas, and how our Python pipeline automates ingestion and polygon vectorization.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Mahathi's part: Presenting the Leaflet dashboard UI/UX, the top navigation switcher between Operations and Satellite views, the high-contrast accessible map legend, and simplified live telemetry.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Mahathi's part: Demonstrating how our routing engine tests roads against flood polygons, dynamically detours around submerged areas, and utilizes spatial indexing to compute safe routes in under 2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Relief Hub connects citizens directly to volunteer supplies on the map, allowing stranded communities to post SOS requests and volunteers to list food, medicine, or boats with direct phone contact.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Rudra's part: Explaining our QGIS multi-criteria hazard scoring, how we categorized 660 km² of land into high/medium/low risk, and how we proactively protect 20+ hospitals and key road corridors.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Satellite Analytics portal, users can inspect high-resolution SAR captures comparing pre-flood baseline vs peak inundation, the change detection heatmap, and the resulting cleaned vector mask.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technology stack is 100% open-source, spanning Sentinel-1 radar data, Python geospatial processing, QGIS risk analysis, Leaflet.js frontend, OSRM routing, and cloud deployment on Render.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Rudra's part: Our solution has zero licensing costs using open data, scales to thousands of concurrent users because spatial math runs in the browser, and costs less than ten dollars a month to operate.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our platform reduces disaster decision latency from hours to seconds, guarantees first responder safety through dynamic dry routing, and connects community aid directly on the map. We invite the judges to explore the live website.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731520" y="822960"/>
            <a:ext cx="4114800" cy="365760"/>
          </a:xfrm>
          <a:prstGeom prst="roundRect">
            <a:avLst/>
          </a:prstGeom>
          <a:solidFill>
            <a:srgbClr val="1E293B"/>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284C7"/>
                </a:solidFill>
              </a:defRPr>
            </a:pPr>
            <a:r>
              <a:t>🛰️ HACKATHON INNOVATION PROJECT</a:t>
            </a:r>
          </a:p>
        </p:txBody>
      </p:sp>
      <p:sp>
        <p:nvSpPr>
          <p:cNvPr id="3" name="TextBox 2"/>
          <p:cNvSpPr txBox="1"/>
          <p:nvPr/>
        </p:nvSpPr>
        <p:spPr>
          <a:xfrm>
            <a:off x="731520" y="1371600"/>
            <a:ext cx="10698480" cy="1645920"/>
          </a:xfrm>
          <a:prstGeom prst="rect">
            <a:avLst/>
          </a:prstGeom>
          <a:noFill/>
        </p:spPr>
        <p:txBody>
          <a:bodyPr wrap="square">
            <a:spAutoFit/>
          </a:bodyPr>
          <a:lstStyle/>
          <a:p>
            <a:pPr>
              <a:defRPr sz="3600" b="1">
                <a:solidFill>
                  <a:srgbClr val="FFFFFF"/>
                </a:solidFill>
              </a:defRPr>
            </a:pPr>
            <a:r>
              <a:t>Satellite Flood Risk &amp; Relief Monitor</a:t>
            </a:r>
          </a:p>
          <a:p>
            <a:pPr>
              <a:spcBef>
                <a:spcPts val="800"/>
              </a:spcBef>
              <a:defRPr sz="1600">
                <a:solidFill>
                  <a:srgbClr val="94A3B8"/>
                </a:solidFill>
              </a:defRPr>
            </a:pPr>
            <a:r>
              <a:t>Automated Sentinel-1 SAR Radar Flood Inundation Mapping, Real-Time Safe Evacuation Routing &amp; Community Relief Connector</a:t>
            </a:r>
          </a:p>
        </p:txBody>
      </p:sp>
      <p:sp>
        <p:nvSpPr>
          <p:cNvPr id="4" name="Rounded Rectangle 3"/>
          <p:cNvSpPr/>
          <p:nvPr/>
        </p:nvSpPr>
        <p:spPr>
          <a:xfrm>
            <a:off x="731520" y="3291840"/>
            <a:ext cx="3328416" cy="2011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474720"/>
            <a:ext cx="2962656" cy="1645920"/>
          </a:xfrm>
          <a:prstGeom prst="rect">
            <a:avLst/>
          </a:prstGeom>
          <a:noFill/>
        </p:spPr>
        <p:txBody>
          <a:bodyPr wrap="square" lIns="0" tIns="0" rIns="0" bIns="0">
            <a:spAutoFit/>
          </a:bodyPr>
          <a:lstStyle/>
          <a:p>
            <a:pPr>
              <a:spcAft>
                <a:spcPts val="800"/>
              </a:spcAft>
              <a:defRPr sz="1500" b="1">
                <a:solidFill>
                  <a:srgbClr val="0284C7"/>
                </a:solidFill>
              </a:defRPr>
            </a:pPr>
            <a:r>
              <a:t>🛰️ Nishtha Patel (CSE #1)</a:t>
            </a:r>
          </a:p>
          <a:p>
            <a:pPr>
              <a:defRPr sz="1300" b="1">
                <a:solidFill>
                  <a:srgbClr val="E2E8F0"/>
                </a:solidFill>
              </a:defRPr>
            </a:pPr>
            <a:r>
              <a:t>Lead Satellite Ingestion &amp; SAR Pipeline</a:t>
            </a:r>
          </a:p>
          <a:p>
            <a:pPr>
              <a:defRPr sz="1150">
                <a:solidFill>
                  <a:srgbClr val="94A3B8"/>
                </a:solidFill>
              </a:defRPr>
            </a:pPr>
            <a:r>
              <a:t>• Copernicus CDSE OAuth2 Automation</a:t>
            </a:r>
            <a:br/>
            <a:r>
              <a:t>• Radar Backscatter Attenuation &amp; Thresholding</a:t>
            </a:r>
            <a:br/>
            <a:r>
              <a:t>• Vector GeoJSON &amp; Flask REST API</a:t>
            </a:r>
          </a:p>
        </p:txBody>
      </p:sp>
      <p:sp>
        <p:nvSpPr>
          <p:cNvPr id="6" name="Rounded Rectangle 5"/>
          <p:cNvSpPr/>
          <p:nvPr/>
        </p:nvSpPr>
        <p:spPr>
          <a:xfrm>
            <a:off x="4425696" y="3291840"/>
            <a:ext cx="3328416" cy="2011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08576" y="3474720"/>
            <a:ext cx="2962656" cy="1645920"/>
          </a:xfrm>
          <a:prstGeom prst="rect">
            <a:avLst/>
          </a:prstGeom>
          <a:noFill/>
        </p:spPr>
        <p:txBody>
          <a:bodyPr wrap="square" lIns="0" tIns="0" rIns="0" bIns="0">
            <a:spAutoFit/>
          </a:bodyPr>
          <a:lstStyle/>
          <a:p>
            <a:pPr>
              <a:spcAft>
                <a:spcPts val="800"/>
              </a:spcAft>
              <a:defRPr sz="1500" b="1">
                <a:solidFill>
                  <a:srgbClr val="0284C7"/>
                </a:solidFill>
              </a:defRPr>
            </a:pPr>
            <a:r>
              <a:t>💻 Mahathi (CSE #2)</a:t>
            </a:r>
          </a:p>
          <a:p>
            <a:pPr>
              <a:defRPr sz="1300" b="1">
                <a:solidFill>
                  <a:srgbClr val="E2E8F0"/>
                </a:solidFill>
              </a:defRPr>
            </a:pPr>
            <a:r>
              <a:t>Frontend Architecture &amp; Safe Routing</a:t>
            </a:r>
          </a:p>
          <a:p>
            <a:pPr>
              <a:defRPr sz="1150">
                <a:solidFill>
                  <a:srgbClr val="94A3B8"/>
                </a:solidFill>
              </a:defRPr>
            </a:pPr>
            <a:r>
              <a:t>• Leaflet.js Unified Dual-Portal UI/UX</a:t>
            </a:r>
            <a:br/>
            <a:r>
              <a:t>• Safe Route Finder (OSRM + Turf.js avoidance)</a:t>
            </a:r>
            <a:br/>
            <a:r>
              <a:t>• Spatial BBOX Indexing &amp; Mutual-Aid Hub</a:t>
            </a:r>
          </a:p>
        </p:txBody>
      </p:sp>
      <p:sp>
        <p:nvSpPr>
          <p:cNvPr id="8" name="Rounded Rectangle 7"/>
          <p:cNvSpPr/>
          <p:nvPr/>
        </p:nvSpPr>
        <p:spPr>
          <a:xfrm>
            <a:off x="8119872" y="3291840"/>
            <a:ext cx="3328416" cy="2011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02752" y="3474720"/>
            <a:ext cx="2962656" cy="1645920"/>
          </a:xfrm>
          <a:prstGeom prst="rect">
            <a:avLst/>
          </a:prstGeom>
          <a:noFill/>
        </p:spPr>
        <p:txBody>
          <a:bodyPr wrap="square" lIns="0" tIns="0" rIns="0" bIns="0">
            <a:spAutoFit/>
          </a:bodyPr>
          <a:lstStyle/>
          <a:p>
            <a:pPr>
              <a:spcAft>
                <a:spcPts val="800"/>
              </a:spcAft>
              <a:defRPr sz="1500" b="1">
                <a:solidFill>
                  <a:srgbClr val="0284C7"/>
                </a:solidFill>
              </a:defRPr>
            </a:pPr>
            <a:r>
              <a:t>⚙️ Rudra (Mechanical)</a:t>
            </a:r>
          </a:p>
          <a:p>
            <a:pPr>
              <a:defRPr sz="1300" b="1">
                <a:solidFill>
                  <a:srgbClr val="E2E8F0"/>
                </a:solidFill>
              </a:defRPr>
            </a:pPr>
            <a:r>
              <a:t>GIS Risk Analysis &amp; Disaster Economics</a:t>
            </a:r>
          </a:p>
          <a:p>
            <a:pPr>
              <a:defRPr sz="1150">
                <a:solidFill>
                  <a:srgbClr val="94A3B8"/>
                </a:solidFill>
              </a:defRPr>
            </a:pPr>
            <a:r>
              <a:t>• QGIS Multi-Criteria Hazard Scoring</a:t>
            </a:r>
            <a:br/>
            <a:r>
              <a:t>• Hospital &amp; Road Infrastructure Exposure</a:t>
            </a:r>
            <a:br/>
            <a:r>
              <a:t>• Operational Feasibility &amp; Impact Modeling</a:t>
            </a:r>
          </a:p>
        </p:txBody>
      </p:sp>
      <p:sp>
        <p:nvSpPr>
          <p:cNvPr id="10" name="TextBox 9"/>
          <p:cNvSpPr txBox="1"/>
          <p:nvPr/>
        </p:nvSpPr>
        <p:spPr>
          <a:xfrm>
            <a:off x="731520" y="5760720"/>
            <a:ext cx="10698480" cy="548640"/>
          </a:xfrm>
          <a:prstGeom prst="rect">
            <a:avLst/>
          </a:prstGeom>
          <a:noFill/>
        </p:spPr>
        <p:txBody>
          <a:bodyPr wrap="none">
            <a:spAutoFit/>
          </a:bodyPr>
          <a:lstStyle/>
          <a:p>
            <a:pPr>
              <a:defRPr sz="1200" b="1">
                <a:solidFill>
                  <a:srgbClr val="38BDF8"/>
                </a:solidFill>
              </a:defRPr>
            </a:pPr>
            <a:r>
              <a:t>🌐 Live Deployment: https://flood-risk-monitor.onrender.com/    |    📂 GitHub: github.com/nishtha1111/flood_risk_monitor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284C7"/>
                </a:solidFill>
              </a:defRPr>
            </a:pPr>
            <a:r>
              <a:t>CONTEXT &amp; GROUND REALITY</a:t>
            </a:r>
          </a:p>
        </p:txBody>
      </p:sp>
      <p:sp>
        <p:nvSpPr>
          <p:cNvPr id="3" name="TextBox 2"/>
          <p:cNvSpPr txBox="1"/>
          <p:nvPr/>
        </p:nvSpPr>
        <p:spPr>
          <a:xfrm>
            <a:off x="731520" y="640080"/>
            <a:ext cx="10698480" cy="594360"/>
          </a:xfrm>
          <a:prstGeom prst="rect">
            <a:avLst/>
          </a:prstGeom>
          <a:noFill/>
        </p:spPr>
        <p:txBody>
          <a:bodyPr wrap="square" lIns="0" tIns="0" rIns="0" bIns="0">
            <a:spAutoFit/>
          </a:bodyPr>
          <a:lstStyle/>
          <a:p>
            <a:pPr>
              <a:defRPr sz="2200" b="1">
                <a:solidFill>
                  <a:srgbClr val="0F172A"/>
                </a:solidFill>
              </a:defRPr>
            </a:pPr>
            <a:r>
              <a:t>Disaster Bottlenecks in Monsoon Flood Response</a:t>
            </a:r>
          </a:p>
        </p:txBody>
      </p:sp>
      <p:sp>
        <p:nvSpPr>
          <p:cNvPr id="4" name="Rounded Rectangle 3"/>
          <p:cNvSpPr/>
          <p:nvPr/>
        </p:nvSpPr>
        <p:spPr>
          <a:xfrm>
            <a:off x="731520" y="1463040"/>
            <a:ext cx="512064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4754880" cy="1828800"/>
          </a:xfrm>
          <a:prstGeom prst="rect">
            <a:avLst/>
          </a:prstGeom>
          <a:noFill/>
        </p:spPr>
        <p:txBody>
          <a:bodyPr wrap="square" lIns="0" tIns="0" rIns="0" bIns="0">
            <a:spAutoFit/>
          </a:bodyPr>
          <a:lstStyle/>
          <a:p>
            <a:pPr>
              <a:spcAft>
                <a:spcPts val="800"/>
              </a:spcAft>
              <a:defRPr sz="1500" b="1">
                <a:solidFill>
                  <a:srgbClr val="DC2626"/>
                </a:solidFill>
              </a:defRPr>
            </a:pPr>
            <a:r>
              <a:t>🌧️ Optical Satellites Fail in Monsoons</a:t>
            </a:r>
          </a:p>
          <a:p>
            <a:pPr>
              <a:defRPr sz="1300">
                <a:solidFill>
                  <a:srgbClr val="0F172A"/>
                </a:solidFill>
              </a:defRPr>
            </a:pPr>
            <a:r>
              <a:t>Traditional optical satellites (Sentinel-2, Landsat, MODIS) cannot penetrate dense monsoon cloud cover and heavy rainfall. In peak floods, rescue authorities are left completely blind for days.</a:t>
            </a:r>
          </a:p>
        </p:txBody>
      </p:sp>
      <p:sp>
        <p:nvSpPr>
          <p:cNvPr id="6" name="Rounded Rectangle 5"/>
          <p:cNvSpPr/>
          <p:nvPr/>
        </p:nvSpPr>
        <p:spPr>
          <a:xfrm>
            <a:off x="6217920" y="1463040"/>
            <a:ext cx="512064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45920"/>
            <a:ext cx="4754880" cy="1828800"/>
          </a:xfrm>
          <a:prstGeom prst="rect">
            <a:avLst/>
          </a:prstGeom>
          <a:noFill/>
        </p:spPr>
        <p:txBody>
          <a:bodyPr wrap="square" lIns="0" tIns="0" rIns="0" bIns="0">
            <a:spAutoFit/>
          </a:bodyPr>
          <a:lstStyle/>
          <a:p>
            <a:pPr>
              <a:spcAft>
                <a:spcPts val="800"/>
              </a:spcAft>
              <a:defRPr sz="1500" b="1">
                <a:solidFill>
                  <a:srgbClr val="D97706"/>
                </a:solidFill>
              </a:defRPr>
            </a:pPr>
            <a:r>
              <a:t>🚗 Standard Navigation Traps Rescue Teams</a:t>
            </a:r>
          </a:p>
          <a:p>
            <a:pPr>
              <a:defRPr sz="1300">
                <a:solidFill>
                  <a:srgbClr val="0F172A"/>
                </a:solidFill>
              </a:defRPr>
            </a:pPr>
            <a:r>
              <a:t>Commercial routing platforms (Google Maps, Apple Maps) lack real-time inundation boundaries. They blindly navigate relief trucks and ambulances straight into submerged highways and washed-out bridges.</a:t>
            </a:r>
          </a:p>
        </p:txBody>
      </p:sp>
      <p:sp>
        <p:nvSpPr>
          <p:cNvPr id="8" name="Rounded Rectangle 7"/>
          <p:cNvSpPr/>
          <p:nvPr/>
        </p:nvSpPr>
        <p:spPr>
          <a:xfrm>
            <a:off x="731520" y="3931920"/>
            <a:ext cx="512064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114800"/>
            <a:ext cx="4754880" cy="1828800"/>
          </a:xfrm>
          <a:prstGeom prst="rect">
            <a:avLst/>
          </a:prstGeom>
          <a:noFill/>
        </p:spPr>
        <p:txBody>
          <a:bodyPr wrap="square" lIns="0" tIns="0" rIns="0" bIns="0">
            <a:spAutoFit/>
          </a:bodyPr>
          <a:lstStyle/>
          <a:p>
            <a:pPr>
              <a:spcAft>
                <a:spcPts val="800"/>
              </a:spcAft>
              <a:defRPr sz="1500" b="1">
                <a:solidFill>
                  <a:srgbClr val="D97706"/>
                </a:solidFill>
              </a:defRPr>
            </a:pPr>
            <a:r>
              <a:t>⏳ 6–8 Hour Manual GIS Processing Delays</a:t>
            </a:r>
          </a:p>
          <a:p>
            <a:pPr>
              <a:defRPr sz="1300">
                <a:solidFill>
                  <a:srgbClr val="0F172A"/>
                </a:solidFill>
              </a:defRPr>
            </a:pPr>
            <a:r>
              <a:t>Existing disaster GIS workflows require manual satellite downloading, calibration, and human polygon tracing. By the time maps reach ground commanders, floodwaters have already shifted.</a:t>
            </a:r>
          </a:p>
        </p:txBody>
      </p:sp>
      <p:sp>
        <p:nvSpPr>
          <p:cNvPr id="10" name="Rounded Rectangle 9"/>
          <p:cNvSpPr/>
          <p:nvPr/>
        </p:nvSpPr>
        <p:spPr>
          <a:xfrm>
            <a:off x="6217920" y="3931920"/>
            <a:ext cx="512064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4114800"/>
            <a:ext cx="4754880" cy="1828800"/>
          </a:xfrm>
          <a:prstGeom prst="rect">
            <a:avLst/>
          </a:prstGeom>
          <a:noFill/>
        </p:spPr>
        <p:txBody>
          <a:bodyPr wrap="square" lIns="0" tIns="0" rIns="0" bIns="0">
            <a:spAutoFit/>
          </a:bodyPr>
          <a:lstStyle/>
          <a:p>
            <a:pPr>
              <a:spcAft>
                <a:spcPts val="800"/>
              </a:spcAft>
              <a:defRPr sz="1500" b="1">
                <a:solidFill>
                  <a:srgbClr val="DC2626"/>
                </a:solidFill>
              </a:defRPr>
            </a:pPr>
            <a:r>
              <a:t>📦 Disconnected Mutual-Aid Logistics</a:t>
            </a:r>
          </a:p>
          <a:p>
            <a:pPr>
              <a:defRPr sz="1300">
                <a:solidFill>
                  <a:srgbClr val="0F172A"/>
                </a:solidFill>
              </a:defRPr>
            </a:pPr>
            <a:r>
              <a:t>Grassroots volunteers with boats and food supplies have no spatial visibility into where cut-off victims are stranded. SOS calls on social media lack verified geographic coordinates and hazard contexts.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284C7"/>
                </a:solidFill>
              </a:defRPr>
            </a:pPr>
            <a:r>
              <a:t>HOW THE SOLUTION OPERATES</a:t>
            </a:r>
          </a:p>
        </p:txBody>
      </p:sp>
      <p:sp>
        <p:nvSpPr>
          <p:cNvPr id="3" name="TextBox 2"/>
          <p:cNvSpPr txBox="1"/>
          <p:nvPr/>
        </p:nvSpPr>
        <p:spPr>
          <a:xfrm>
            <a:off x="731520" y="640080"/>
            <a:ext cx="10698480" cy="594360"/>
          </a:xfrm>
          <a:prstGeom prst="rect">
            <a:avLst/>
          </a:prstGeom>
          <a:noFill/>
        </p:spPr>
        <p:txBody>
          <a:bodyPr wrap="square" lIns="0" tIns="0" rIns="0" bIns="0">
            <a:spAutoFit/>
          </a:bodyPr>
          <a:lstStyle/>
          <a:p>
            <a:pPr>
              <a:defRPr sz="2200" b="1">
                <a:solidFill>
                  <a:srgbClr val="0F172A"/>
                </a:solidFill>
              </a:defRPr>
            </a:pPr>
            <a:r>
              <a:t>End-to-End Automated System Architecture</a:t>
            </a:r>
          </a:p>
        </p:txBody>
      </p:sp>
      <p:sp>
        <p:nvSpPr>
          <p:cNvPr id="4" name="Rounded Rectangle 3"/>
          <p:cNvSpPr/>
          <p:nvPr/>
        </p:nvSpPr>
        <p:spPr>
          <a:xfrm>
            <a:off x="731520" y="1463040"/>
            <a:ext cx="3328416"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2962656" cy="4297680"/>
          </a:xfrm>
          <a:prstGeom prst="rect">
            <a:avLst/>
          </a:prstGeom>
          <a:noFill/>
        </p:spPr>
        <p:txBody>
          <a:bodyPr wrap="square" lIns="0" tIns="0" rIns="0" bIns="0">
            <a:spAutoFit/>
          </a:bodyPr>
          <a:lstStyle/>
          <a:p>
            <a:pPr>
              <a:spcAft>
                <a:spcPts val="800"/>
              </a:spcAft>
              <a:defRPr sz="1500" b="1">
                <a:solidFill>
                  <a:srgbClr val="0284C7"/>
                </a:solidFill>
              </a:defRPr>
            </a:pPr>
            <a:r>
              <a:t>1. Ingestion &amp; SAR Science</a:t>
            </a:r>
          </a:p>
          <a:p>
            <a:pPr>
              <a:defRPr sz="1400" b="1">
                <a:solidFill>
                  <a:srgbClr val="0369A1"/>
                </a:solidFill>
              </a:defRPr>
            </a:pPr>
            <a:r>
              <a:t>🛰️ Copernicus CDSE Poller</a:t>
            </a:r>
          </a:p>
          <a:p>
            <a:pPr>
              <a:spcAft>
                <a:spcPts val="800"/>
              </a:spcAft>
              <a:defRPr sz="1200">
                <a:solidFill>
                  <a:srgbClr val="64748B"/>
                </a:solidFill>
              </a:defRPr>
            </a:pPr>
            <a:r>
              <a:t>• Automated OAuth2 API token refresh</a:t>
            </a:r>
            <a:br/>
            <a:r>
              <a:t>• WKT bounding-box intersection query over Assam basin</a:t>
            </a:r>
            <a:br/>
            <a:r>
              <a:t>• Grabs newest Sentinel-1 IW GRDH 1SDV scene (~6–12d revisit)</a:t>
            </a:r>
          </a:p>
          <a:p>
            <a:pPr>
              <a:defRPr sz="1400" b="1">
                <a:solidFill>
                  <a:srgbClr val="0369A1"/>
                </a:solidFill>
              </a:defRPr>
            </a:pPr>
            <a:r>
              <a:t>⚡ Radar Physics Engine</a:t>
            </a:r>
          </a:p>
          <a:p>
            <a:pPr>
              <a:defRPr sz="1200">
                <a:solidFill>
                  <a:srgbClr val="64748B"/>
                </a:solidFill>
              </a:defRPr>
            </a:pPr>
            <a:r>
              <a:t>• Water specular reflection backscatter delta:</a:t>
            </a:r>
            <a:br/>
            <a:r>
              <a:t>  Δσ⁰ (dB) = 10 log₁₀(σ_during / σ_before)</a:t>
            </a:r>
            <a:br/>
            <a:r>
              <a:t>• Specular attenuation threshold (≤ -3.5 dB)</a:t>
            </a:r>
            <a:br/>
            <a:r>
              <a:t>• Morphological cleaning &amp; polygon extraction</a:t>
            </a:r>
          </a:p>
        </p:txBody>
      </p:sp>
      <p:sp>
        <p:nvSpPr>
          <p:cNvPr id="6" name="Rounded Rectangle 5"/>
          <p:cNvSpPr/>
          <p:nvPr/>
        </p:nvSpPr>
        <p:spPr>
          <a:xfrm>
            <a:off x="4425696" y="1463040"/>
            <a:ext cx="3328416"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08576" y="1645920"/>
            <a:ext cx="2962656" cy="4297680"/>
          </a:xfrm>
          <a:prstGeom prst="rect">
            <a:avLst/>
          </a:prstGeom>
          <a:noFill/>
        </p:spPr>
        <p:txBody>
          <a:bodyPr wrap="square" lIns="0" tIns="0" rIns="0" bIns="0">
            <a:spAutoFit/>
          </a:bodyPr>
          <a:lstStyle/>
          <a:p>
            <a:pPr>
              <a:spcAft>
                <a:spcPts val="800"/>
              </a:spcAft>
              <a:defRPr sz="1500" b="1">
                <a:solidFill>
                  <a:srgbClr val="0284C7"/>
                </a:solidFill>
              </a:defRPr>
            </a:pPr>
            <a:r>
              <a:t>2. Backend REST API &amp; Archival</a:t>
            </a:r>
          </a:p>
          <a:p>
            <a:pPr>
              <a:defRPr sz="1400" b="1">
                <a:solidFill>
                  <a:srgbClr val="0369A1"/>
                </a:solidFill>
              </a:defRPr>
            </a:pPr>
            <a:r>
              <a:t>📁 Versioned Storage Layer</a:t>
            </a:r>
          </a:p>
          <a:p>
            <a:pPr>
              <a:spcAft>
                <a:spcPts val="800"/>
              </a:spcAft>
              <a:defRPr sz="1200">
                <a:solidFill>
                  <a:srgbClr val="64748B"/>
                </a:solidFill>
              </a:defRPr>
            </a:pPr>
            <a:r>
              <a:t>• Stores historical runs in output/history/&lt;scene_id&gt;/</a:t>
            </a:r>
            <a:br/>
            <a:r>
              <a:t>• Tracks temporal flood area (km²) &amp; polygon counts</a:t>
            </a:r>
            <a:br/>
            <a:r>
              <a:t>• Atomic sync to root flood_extent.geojson</a:t>
            </a:r>
          </a:p>
          <a:p>
            <a:pPr>
              <a:defRPr sz="1400" b="1">
                <a:solidFill>
                  <a:srgbClr val="0369A1"/>
                </a:solidFill>
              </a:defRPr>
            </a:pPr>
            <a:r>
              <a:t>🔌 Live Flask / Gunicorn API</a:t>
            </a:r>
          </a:p>
          <a:p>
            <a:pPr>
              <a:defRPr sz="1200">
                <a:solidFill>
                  <a:srgbClr val="64748B"/>
                </a:solidFill>
              </a:defRPr>
            </a:pPr>
            <a:r>
              <a:t>• GET /api/metadata (Active satellite &amp; pass date)</a:t>
            </a:r>
            <a:br/>
            <a:r>
              <a:t>• GET /api/flood-extent/latest (Polygons)</a:t>
            </a:r>
            <a:br/>
            <a:r>
              <a:t>• POST /api/pipeline/trigger (On-demand)</a:t>
            </a:r>
            <a:br/>
            <a:r>
              <a:t>• Dynamic $PORT binding &amp; Gunicorn WSGI</a:t>
            </a:r>
          </a:p>
        </p:txBody>
      </p:sp>
      <p:sp>
        <p:nvSpPr>
          <p:cNvPr id="8" name="Rounded Rectangle 7"/>
          <p:cNvSpPr/>
          <p:nvPr/>
        </p:nvSpPr>
        <p:spPr>
          <a:xfrm>
            <a:off x="8119872" y="1463040"/>
            <a:ext cx="3328416"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02752" y="1645920"/>
            <a:ext cx="2962656" cy="4297680"/>
          </a:xfrm>
          <a:prstGeom prst="rect">
            <a:avLst/>
          </a:prstGeom>
          <a:noFill/>
        </p:spPr>
        <p:txBody>
          <a:bodyPr wrap="square" lIns="0" tIns="0" rIns="0" bIns="0">
            <a:spAutoFit/>
          </a:bodyPr>
          <a:lstStyle/>
          <a:p>
            <a:pPr>
              <a:spcAft>
                <a:spcPts val="800"/>
              </a:spcAft>
              <a:defRPr sz="1500" b="1">
                <a:solidFill>
                  <a:srgbClr val="0284C7"/>
                </a:solidFill>
              </a:defRPr>
            </a:pPr>
            <a:r>
              <a:t>3. Decision Support &amp; Routing</a:t>
            </a:r>
          </a:p>
          <a:p>
            <a:pPr>
              <a:defRPr sz="1400" b="1">
                <a:solidFill>
                  <a:srgbClr val="0369A1"/>
                </a:solidFill>
              </a:defRPr>
            </a:pPr>
            <a:r>
              <a:t>🗺️ Leaflet.js Operations Portal</a:t>
            </a:r>
          </a:p>
          <a:p>
            <a:pPr>
              <a:spcAft>
                <a:spcPts val="800"/>
              </a:spcAft>
              <a:defRPr sz="1200">
                <a:solidFill>
                  <a:srgbClr val="64748B"/>
                </a:solidFill>
              </a:defRPr>
            </a:pPr>
            <a:r>
              <a:t>• High-contrast vector layers (Flood, Risk, Roads, Hospitals)</a:t>
            </a:r>
            <a:br/>
            <a:r>
              <a:t>• 60s auto-refresh polling with live stream badge</a:t>
            </a:r>
            <a:br/>
            <a:r>
              <a:t>• Responsive mobile drawer &amp; accessible UI</a:t>
            </a:r>
          </a:p>
          <a:p>
            <a:pPr>
              <a:defRPr sz="1400" b="1">
                <a:solidFill>
                  <a:srgbClr val="0369A1"/>
                </a:solidFill>
              </a:defRPr>
            </a:pPr>
            <a:r>
              <a:t>🛡️ Turf.js + OSRM Safe Router</a:t>
            </a:r>
          </a:p>
          <a:p>
            <a:pPr>
              <a:defRPr sz="1200">
                <a:solidFill>
                  <a:srgbClr val="64748B"/>
                </a:solidFill>
              </a:defRPr>
            </a:pPr>
            <a:r>
              <a:t>• Real-time road vs flood intersection tests</a:t>
            </a:r>
            <a:br/>
            <a:r>
              <a:t>• Dynamic 4-directional dry detour bypasses</a:t>
            </a:r>
            <a:br/>
            <a:r>
              <a:t>• Spatial BBOX pre-filtering index (&lt; 2ms)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284C7"/>
                </a:solidFill>
              </a:defRPr>
            </a:pPr>
            <a:r>
              <a:t>NISHTHA PATEL (CSE #1) — BACKEND &amp; SATELLITE PIPELINE</a:t>
            </a:r>
          </a:p>
        </p:txBody>
      </p:sp>
      <p:sp>
        <p:nvSpPr>
          <p:cNvPr id="3" name="TextBox 2"/>
          <p:cNvSpPr txBox="1"/>
          <p:nvPr/>
        </p:nvSpPr>
        <p:spPr>
          <a:xfrm>
            <a:off x="731520" y="640080"/>
            <a:ext cx="10698480" cy="594360"/>
          </a:xfrm>
          <a:prstGeom prst="rect">
            <a:avLst/>
          </a:prstGeom>
          <a:noFill/>
        </p:spPr>
        <p:txBody>
          <a:bodyPr wrap="square" lIns="0" tIns="0" rIns="0" bIns="0">
            <a:spAutoFit/>
          </a:bodyPr>
          <a:lstStyle/>
          <a:p>
            <a:pPr>
              <a:defRPr sz="2200" b="1">
                <a:solidFill>
                  <a:srgbClr val="0F172A"/>
                </a:solidFill>
              </a:defRPr>
            </a:pPr>
            <a:r>
              <a:t>SAR Radar Physics &amp; Automated Data Pipeline</a:t>
            </a:r>
          </a:p>
        </p:txBody>
      </p:sp>
      <p:sp>
        <p:nvSpPr>
          <p:cNvPr id="4" name="Rounded Rectangle 3"/>
          <p:cNvSpPr/>
          <p:nvPr/>
        </p:nvSpPr>
        <p:spPr>
          <a:xfrm>
            <a:off x="731520" y="1463040"/>
            <a:ext cx="1069848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10332720" cy="1828800"/>
          </a:xfrm>
          <a:prstGeom prst="rect">
            <a:avLst/>
          </a:prstGeom>
          <a:noFill/>
        </p:spPr>
        <p:txBody>
          <a:bodyPr wrap="square" lIns="0" tIns="0" rIns="0" bIns="0">
            <a:spAutoFit/>
          </a:bodyPr>
          <a:lstStyle/>
          <a:p>
            <a:pPr>
              <a:spcAft>
                <a:spcPts val="800"/>
              </a:spcAft>
              <a:defRPr sz="1500" b="1">
                <a:solidFill>
                  <a:srgbClr val="0284C7"/>
                </a:solidFill>
              </a:defRPr>
            </a:pPr>
            <a:r>
              <a:t>📡 Radar Reflection Physics &amp; Specular Attenuation</a:t>
            </a:r>
          </a:p>
          <a:p>
            <a:pPr>
              <a:defRPr sz="1300">
                <a:solidFill>
                  <a:srgbClr val="0F172A"/>
                </a:solidFill>
              </a:defRPr>
            </a:pPr>
            <a:r>
              <a:t>• All-Weather C-Band SAR: Sentinel-1 emits 5.405 GHz microwave pulses that completely ignore clouds, monsoon rain, and darkness.</a:t>
            </a:r>
          </a:p>
          <a:p>
            <a:pPr>
              <a:defRPr sz="1300">
                <a:solidFill>
                  <a:srgbClr val="0F172A"/>
                </a:solidFill>
              </a:defRPr>
            </a:pPr>
            <a:r>
              <a:t>• Specular Surface Reflection: Dry ground and forest create rough diffuse scatter (high backscatter dB: -12 to -8 dB). Smooth standing water reflects radar pulses away like a mirror (low backscatter dB: -22 to -18 dB).</a:t>
            </a:r>
          </a:p>
          <a:p>
            <a:pPr>
              <a:defRPr sz="1300">
                <a:solidFill>
                  <a:srgbClr val="0F172A"/>
                </a:solidFill>
              </a:defRPr>
            </a:pPr>
            <a:r>
              <a:t>• Change Detection Algorithm: Ratio between pre-flood baseline (29 June 2024) and peak inundation (11 July 2024) isolates exact flooded pixels with morphological speckle filtering.</a:t>
            </a:r>
          </a:p>
        </p:txBody>
      </p:sp>
      <p:sp>
        <p:nvSpPr>
          <p:cNvPr id="6" name="Rounded Rectangle 5"/>
          <p:cNvSpPr/>
          <p:nvPr/>
        </p:nvSpPr>
        <p:spPr>
          <a:xfrm>
            <a:off x="731520" y="3931920"/>
            <a:ext cx="1069848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14800"/>
            <a:ext cx="10332720" cy="1828800"/>
          </a:xfrm>
          <a:prstGeom prst="rect">
            <a:avLst/>
          </a:prstGeom>
          <a:noFill/>
        </p:spPr>
        <p:txBody>
          <a:bodyPr wrap="square" lIns="0" tIns="0" rIns="0" bIns="0">
            <a:spAutoFit/>
          </a:bodyPr>
          <a:lstStyle/>
          <a:p>
            <a:pPr>
              <a:spcAft>
                <a:spcPts val="800"/>
              </a:spcAft>
              <a:defRPr sz="1500" b="1">
                <a:solidFill>
                  <a:srgbClr val="059669"/>
                </a:solidFill>
              </a:defRPr>
            </a:pPr>
            <a:r>
              <a:t>⚙️ Automated Semi-Live Ingestion &amp; Export Engine</a:t>
            </a:r>
          </a:p>
          <a:p>
            <a:pPr>
              <a:defRPr sz="1300">
                <a:solidFill>
                  <a:srgbClr val="0F172A"/>
                </a:solidFill>
              </a:defRPr>
            </a:pPr>
            <a:r>
              <a:t>• Programmatic Copernicus Ingestion: ingest_sentinel1.py queries OData catalogue for IW_GRDH_1SDV products over the AOI [90.64, 25.09, 93.16, 26.70] with OAuth2 credentials and open fallback.</a:t>
            </a:r>
          </a:p>
          <a:p>
            <a:pPr>
              <a:defRPr sz="1300">
                <a:solidFill>
                  <a:srgbClr val="0F172A"/>
                </a:solidFill>
              </a:defRPr>
            </a:pPr>
            <a:r>
              <a:t>• State Tracking Manifest: data/manifest.json compares scene timestamps to skip redundant processing during the 6–12 day orbital revisit cycle.</a:t>
            </a:r>
          </a:p>
          <a:p>
            <a:pPr>
              <a:defRPr sz="1300">
                <a:solidFill>
                  <a:srgbClr val="0F172A"/>
                </a:solidFill>
              </a:defRPr>
            </a:pPr>
            <a:r>
              <a:t>• Vectorized GeoJSON Export: detect_flood.py automatically converts cleaned binary raster masks into EPSG:4326 WGS84 GeoJSON polygons with total area calculations (723.94 km² active extent).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284C7"/>
                </a:solidFill>
              </a:defRPr>
            </a:pPr>
            <a:r>
              <a:t>MAHATHI (CSE #2) — FRONTEND ARCHITECTURE &amp; UI/UX</a:t>
            </a:r>
          </a:p>
        </p:txBody>
      </p:sp>
      <p:sp>
        <p:nvSpPr>
          <p:cNvPr id="3" name="TextBox 2"/>
          <p:cNvSpPr txBox="1"/>
          <p:nvPr/>
        </p:nvSpPr>
        <p:spPr>
          <a:xfrm>
            <a:off x="731520" y="640080"/>
            <a:ext cx="10698480" cy="594360"/>
          </a:xfrm>
          <a:prstGeom prst="rect">
            <a:avLst/>
          </a:prstGeom>
          <a:noFill/>
        </p:spPr>
        <p:txBody>
          <a:bodyPr wrap="square" lIns="0" tIns="0" rIns="0" bIns="0">
            <a:spAutoFit/>
          </a:bodyPr>
          <a:lstStyle/>
          <a:p>
            <a:pPr>
              <a:defRPr sz="2200" b="1">
                <a:solidFill>
                  <a:srgbClr val="0F172A"/>
                </a:solidFill>
              </a:defRPr>
            </a:pPr>
            <a:r>
              <a:t>Unified GIS Operations Dashboard &amp; UI/UX</a:t>
            </a:r>
          </a:p>
        </p:txBody>
      </p:sp>
      <p:sp>
        <p:nvSpPr>
          <p:cNvPr id="4" name="Rounded Rectangle 3"/>
          <p:cNvSpPr/>
          <p:nvPr/>
        </p:nvSpPr>
        <p:spPr>
          <a:xfrm>
            <a:off x="731520" y="1463040"/>
            <a:ext cx="3328416"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2962656" cy="4297680"/>
          </a:xfrm>
          <a:prstGeom prst="rect">
            <a:avLst/>
          </a:prstGeom>
          <a:noFill/>
        </p:spPr>
        <p:txBody>
          <a:bodyPr wrap="square" lIns="0" tIns="0" rIns="0" bIns="0">
            <a:spAutoFit/>
          </a:bodyPr>
          <a:lstStyle/>
          <a:p>
            <a:pPr>
              <a:spcAft>
                <a:spcPts val="800"/>
              </a:spcAft>
              <a:defRPr sz="1500" b="1">
                <a:solidFill>
                  <a:srgbClr val="0284C7"/>
                </a:solidFill>
              </a:defRPr>
            </a:pPr>
            <a:r>
              <a:t>🗺️ Dual-View Unified Portal</a:t>
            </a:r>
          </a:p>
          <a:p>
            <a:pPr>
              <a:defRPr sz="1400" b="1">
                <a:solidFill>
                  <a:srgbClr val="0369A1"/>
                </a:solidFill>
              </a:defRPr>
            </a:pPr>
            <a:r>
              <a:t>• Seamless View Switcher</a:t>
            </a:r>
          </a:p>
          <a:p>
            <a:pPr>
              <a:spcAft>
                <a:spcPts val="800"/>
              </a:spcAft>
              <a:defRPr sz="1250">
                <a:solidFill>
                  <a:srgbClr val="0F172A"/>
                </a:solidFill>
              </a:defRPr>
            </a:pPr>
            <a:r>
              <a:t>Easily toggle between field Operations Map and deep Satellite Analytics without reloading.</a:t>
            </a:r>
          </a:p>
          <a:p>
            <a:pPr>
              <a:defRPr sz="1400" b="1">
                <a:solidFill>
                  <a:srgbClr val="0369A1"/>
                </a:solidFill>
              </a:defRPr>
            </a:pPr>
            <a:r>
              <a:t>• High-Contrast GIS Layers</a:t>
            </a:r>
          </a:p>
          <a:p>
            <a:pPr>
              <a:defRPr sz="1250">
                <a:solidFill>
                  <a:srgbClr val="0F172A"/>
                </a:solidFill>
              </a:defRPr>
            </a:pPr>
            <a:r>
              <a:t>Independent layer toggles for Flood Extent, High/Med/Low Risk zones, Roads, and Hospitals with WCAG AA compliant solid black text (#000000).</a:t>
            </a:r>
          </a:p>
        </p:txBody>
      </p:sp>
      <p:sp>
        <p:nvSpPr>
          <p:cNvPr id="6" name="Rounded Rectangle 5"/>
          <p:cNvSpPr/>
          <p:nvPr/>
        </p:nvSpPr>
        <p:spPr>
          <a:xfrm>
            <a:off x="4425696" y="1463040"/>
            <a:ext cx="3328416"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08576" y="1645920"/>
            <a:ext cx="2962656" cy="4297680"/>
          </a:xfrm>
          <a:prstGeom prst="rect">
            <a:avLst/>
          </a:prstGeom>
          <a:noFill/>
        </p:spPr>
        <p:txBody>
          <a:bodyPr wrap="square" lIns="0" tIns="0" rIns="0" bIns="0">
            <a:spAutoFit/>
          </a:bodyPr>
          <a:lstStyle/>
          <a:p>
            <a:pPr>
              <a:spcAft>
                <a:spcPts val="800"/>
              </a:spcAft>
              <a:defRPr sz="1500" b="1">
                <a:solidFill>
                  <a:srgbClr val="0284C7"/>
                </a:solidFill>
              </a:defRPr>
            </a:pPr>
            <a:r>
              <a:t>🛰️ Simplified Live Telemetry</a:t>
            </a:r>
          </a:p>
          <a:p>
            <a:pPr>
              <a:defRPr sz="1400" b="1">
                <a:solidFill>
                  <a:srgbClr val="0369A1"/>
                </a:solidFill>
              </a:defRPr>
            </a:pPr>
            <a:r>
              <a:t>• Human-Centric Status Card</a:t>
            </a:r>
          </a:p>
          <a:p>
            <a:pPr>
              <a:spcAft>
                <a:spcPts val="800"/>
              </a:spcAft>
              <a:defRPr sz="1250">
                <a:solidFill>
                  <a:srgbClr val="0F172A"/>
                </a:solidFill>
              </a:defRPr>
            </a:pPr>
            <a:r>
              <a:t>Shows clear Acquisition Date (Aug 21, 2026 05:24 AM), ~6–12 Day Revisit Interval, and pulsing green LIVE badge.</a:t>
            </a:r>
          </a:p>
          <a:p>
            <a:pPr>
              <a:defRPr sz="1400" b="1">
                <a:solidFill>
                  <a:srgbClr val="0369A1"/>
                </a:solidFill>
              </a:defRPr>
            </a:pPr>
            <a:r>
              <a:t>• Collapsible Technical Scene</a:t>
            </a:r>
          </a:p>
          <a:p>
            <a:pPr>
              <a:defRPr sz="1250">
                <a:solidFill>
                  <a:srgbClr val="0F172A"/>
                </a:solidFill>
              </a:defRPr>
            </a:pPr>
            <a:r>
              <a:t>Raw satellite product hashes tucked neatly inside an expandable details toggle for developer debugging.</a:t>
            </a:r>
          </a:p>
        </p:txBody>
      </p:sp>
      <p:sp>
        <p:nvSpPr>
          <p:cNvPr id="8" name="Rounded Rectangle 7"/>
          <p:cNvSpPr/>
          <p:nvPr/>
        </p:nvSpPr>
        <p:spPr>
          <a:xfrm>
            <a:off x="8119872" y="1463040"/>
            <a:ext cx="3328416"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02752" y="1645920"/>
            <a:ext cx="2962656" cy="4297680"/>
          </a:xfrm>
          <a:prstGeom prst="rect">
            <a:avLst/>
          </a:prstGeom>
          <a:noFill/>
        </p:spPr>
        <p:txBody>
          <a:bodyPr wrap="square" lIns="0" tIns="0" rIns="0" bIns="0">
            <a:spAutoFit/>
          </a:bodyPr>
          <a:lstStyle/>
          <a:p>
            <a:pPr>
              <a:spcAft>
                <a:spcPts val="800"/>
              </a:spcAft>
              <a:defRPr sz="1500" b="1">
                <a:solidFill>
                  <a:srgbClr val="0284C7"/>
                </a:solidFill>
              </a:defRPr>
            </a:pPr>
            <a:r>
              <a:t>🔄 Live Polling &amp; Controls</a:t>
            </a:r>
          </a:p>
          <a:p>
            <a:pPr>
              <a:defRPr sz="1400" b="1">
                <a:solidFill>
                  <a:srgbClr val="0369A1"/>
                </a:solidFill>
              </a:defRPr>
            </a:pPr>
            <a:r>
              <a:t>• Flicker-Free Dynamic Updates</a:t>
            </a:r>
          </a:p>
          <a:p>
            <a:pPr>
              <a:spcAft>
                <a:spcPts val="800"/>
              </a:spcAft>
              <a:defRPr sz="1250">
                <a:solidFill>
                  <a:srgbClr val="0F172A"/>
                </a:solidFill>
              </a:defRPr>
            </a:pPr>
            <a:r>
              <a:t>Auto-polls backend API every 60s. Ingests fresh polygons seamlessly without resetting map view or zooming.</a:t>
            </a:r>
          </a:p>
          <a:p>
            <a:pPr>
              <a:defRPr sz="1400" b="1">
                <a:solidFill>
                  <a:srgbClr val="0369A1"/>
                </a:solidFill>
              </a:defRPr>
            </a:pPr>
            <a:r>
              <a:t>• Manual Satellite Trigger</a:t>
            </a:r>
          </a:p>
          <a:p>
            <a:pPr>
              <a:defRPr sz="1250">
                <a:solidFill>
                  <a:srgbClr val="0F172A"/>
                </a:solidFill>
              </a:defRPr>
            </a:pPr>
            <a:r>
              <a:t>Interactive [🔄 Check Satellite] button initiates on-demand pipeline polling with live toast alerts.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284C7"/>
                </a:solidFill>
              </a:defRPr>
            </a:pPr>
            <a:r>
              <a:t>MAHATHI (CSE #2) — SPATIAL ROUTING &amp; OPTIMIZATION</a:t>
            </a:r>
          </a:p>
        </p:txBody>
      </p:sp>
      <p:sp>
        <p:nvSpPr>
          <p:cNvPr id="3" name="TextBox 2"/>
          <p:cNvSpPr txBox="1"/>
          <p:nvPr/>
        </p:nvSpPr>
        <p:spPr>
          <a:xfrm>
            <a:off x="731520" y="640080"/>
            <a:ext cx="10698480" cy="594360"/>
          </a:xfrm>
          <a:prstGeom prst="rect">
            <a:avLst/>
          </a:prstGeom>
          <a:noFill/>
        </p:spPr>
        <p:txBody>
          <a:bodyPr wrap="square" lIns="0" tIns="0" rIns="0" bIns="0">
            <a:spAutoFit/>
          </a:bodyPr>
          <a:lstStyle/>
          <a:p>
            <a:pPr>
              <a:defRPr sz="2200" b="1">
                <a:solidFill>
                  <a:srgbClr val="0F172A"/>
                </a:solidFill>
              </a:defRPr>
            </a:pPr>
            <a:r>
              <a:t>Hazard-Aware Safe Route Finder Engine</a:t>
            </a:r>
          </a:p>
        </p:txBody>
      </p:sp>
      <p:sp>
        <p:nvSpPr>
          <p:cNvPr id="4" name="Rounded Rectangle 3"/>
          <p:cNvSpPr/>
          <p:nvPr/>
        </p:nvSpPr>
        <p:spPr>
          <a:xfrm>
            <a:off x="731520" y="1463040"/>
            <a:ext cx="512064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4754880" cy="4297680"/>
          </a:xfrm>
          <a:prstGeom prst="rect">
            <a:avLst/>
          </a:prstGeom>
          <a:noFill/>
        </p:spPr>
        <p:txBody>
          <a:bodyPr wrap="square" lIns="0" tIns="0" rIns="0" bIns="0">
            <a:spAutoFit/>
          </a:bodyPr>
          <a:lstStyle/>
          <a:p>
            <a:pPr>
              <a:spcAft>
                <a:spcPts val="800"/>
              </a:spcAft>
              <a:defRPr sz="1500" b="1">
                <a:solidFill>
                  <a:srgbClr val="0284C7"/>
                </a:solidFill>
              </a:defRPr>
            </a:pPr>
            <a:r>
              <a:t>🛡️ Dynamic Flood Avoidance Algorithm</a:t>
            </a:r>
          </a:p>
          <a:p>
            <a:pPr>
              <a:defRPr sz="1300" b="1">
                <a:solidFill>
                  <a:srgbClr val="0369A1"/>
                </a:solidFill>
              </a:defRPr>
            </a:pPr>
            <a:r>
              <a:t>1. Point-in-Polygon Origin/Dest Check</a:t>
            </a:r>
          </a:p>
          <a:p>
            <a:pPr>
              <a:spcAft>
                <a:spcPts val="600"/>
              </a:spcAft>
              <a:defRPr sz="1200">
                <a:solidFill>
                  <a:srgbClr val="64748B"/>
                </a:solidFill>
              </a:defRPr>
            </a:pPr>
            <a:r>
              <a:t>Instantly evaluates if the user's start or target hospital is submerged in floodwaters.</a:t>
            </a:r>
          </a:p>
          <a:p>
            <a:pPr>
              <a:defRPr sz="1300" b="1">
                <a:solidFill>
                  <a:srgbClr val="0369A1"/>
                </a:solidFill>
              </a:defRPr>
            </a:pPr>
            <a:r>
              <a:t>2. Multi-Candidate OSRM Pathfinding</a:t>
            </a:r>
          </a:p>
          <a:p>
            <a:pPr>
              <a:spcAft>
                <a:spcPts val="600"/>
              </a:spcAft>
              <a:defRPr sz="1200">
                <a:solidFill>
                  <a:srgbClr val="64748B"/>
                </a:solidFill>
              </a:defRPr>
            </a:pPr>
            <a:r>
              <a:t>Fetches primary and alternative highway geometries via Open Source Routing Machine (OSRM).</a:t>
            </a:r>
          </a:p>
          <a:p>
            <a:pPr>
              <a:defRPr sz="1300" b="1">
                <a:solidFill>
                  <a:srgbClr val="0369A1"/>
                </a:solidFill>
              </a:defRPr>
            </a:pPr>
            <a:r>
              <a:t>3. Dynamic 4-Directional Bypass Detour</a:t>
            </a:r>
          </a:p>
          <a:p>
            <a:pPr>
              <a:defRPr sz="1200">
                <a:solidFill>
                  <a:srgbClr val="64748B"/>
                </a:solidFill>
              </a:defRPr>
            </a:pPr>
            <a:r>
              <a:t>If primary road is cut by water, automatically tests North/South/East/West elevated bypass waypoints (~5km buffer) to find a dry corridor.</a:t>
            </a:r>
          </a:p>
        </p:txBody>
      </p:sp>
      <p:sp>
        <p:nvSpPr>
          <p:cNvPr id="6" name="Rounded Rectangle 5"/>
          <p:cNvSpPr/>
          <p:nvPr/>
        </p:nvSpPr>
        <p:spPr>
          <a:xfrm>
            <a:off x="6217920" y="1463040"/>
            <a:ext cx="512064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45920"/>
            <a:ext cx="4754880" cy="4297680"/>
          </a:xfrm>
          <a:prstGeom prst="rect">
            <a:avLst/>
          </a:prstGeom>
          <a:noFill/>
        </p:spPr>
        <p:txBody>
          <a:bodyPr wrap="square" lIns="0" tIns="0" rIns="0" bIns="0">
            <a:spAutoFit/>
          </a:bodyPr>
          <a:lstStyle/>
          <a:p>
            <a:pPr>
              <a:spcAft>
                <a:spcPts val="800"/>
              </a:spcAft>
              <a:defRPr sz="1500" b="1">
                <a:solidFill>
                  <a:srgbClr val="059669"/>
                </a:solidFill>
              </a:defRPr>
            </a:pPr>
            <a:r>
              <a:t>⚡ Spatial BBOX Indexing (4.6x Speedup)</a:t>
            </a:r>
          </a:p>
          <a:p>
            <a:pPr>
              <a:defRPr sz="1300" b="1">
                <a:solidFill>
                  <a:srgbClr val="047857"/>
                </a:solidFill>
              </a:defRPr>
            </a:pPr>
            <a:r>
              <a:t>• The Bottleneck Solved:</a:t>
            </a:r>
          </a:p>
          <a:p>
            <a:pPr>
              <a:spcAft>
                <a:spcPts val="600"/>
              </a:spcAft>
              <a:defRPr sz="1200">
                <a:solidFill>
                  <a:srgbClr val="64748B"/>
                </a:solidFill>
              </a:defRPr>
            </a:pPr>
            <a:r>
              <a:t>Testing candidate routes against 221 complex flood polygons across Assam used to take seconds and freeze the browser.</a:t>
            </a:r>
          </a:p>
          <a:p>
            <a:pPr>
              <a:defRPr sz="1300" b="1">
                <a:solidFill>
                  <a:srgbClr val="047857"/>
                </a:solidFill>
              </a:defRPr>
            </a:pPr>
            <a:r>
              <a:t>• Spatial BBOX Pre-Filtering (&lt; 2ms):</a:t>
            </a:r>
          </a:p>
          <a:p>
            <a:pPr>
              <a:spcAft>
                <a:spcPts val="600"/>
              </a:spcAft>
              <a:defRPr sz="1200">
                <a:solidFill>
                  <a:srgbClr val="64748B"/>
                </a:solidFill>
              </a:defRPr>
            </a:pPr>
            <a:r>
              <a:t>Pre-computes [minX, minY, maxX, maxY] for each polygon. Fast O(1) rectangle overlap rejects 98% of distant polygons instantly.</a:t>
            </a:r>
          </a:p>
          <a:p>
            <a:pPr>
              <a:defRPr sz="1300" b="1">
                <a:solidFill>
                  <a:srgbClr val="047857"/>
                </a:solidFill>
              </a:defRPr>
            </a:pPr>
            <a:r>
              <a:t>• Timeout Guards &amp; Memory LRU Cache:</a:t>
            </a:r>
          </a:p>
          <a:p>
            <a:pPr>
              <a:defRPr sz="1200">
                <a:solidFill>
                  <a:srgbClr val="64748B"/>
                </a:solidFill>
              </a:defRPr>
            </a:pPr>
            <a:r>
              <a:t>Concurrent Promise.all detour queries, strict 4.5s timeout with emergency vector fallback, and sub-millisecond route caching.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284C7"/>
                </a:solidFill>
              </a:defRPr>
            </a:pPr>
            <a:r>
              <a:t>HUMANITARIAN COORDINATION</a:t>
            </a:r>
          </a:p>
        </p:txBody>
      </p:sp>
      <p:sp>
        <p:nvSpPr>
          <p:cNvPr id="3" name="TextBox 2"/>
          <p:cNvSpPr txBox="1"/>
          <p:nvPr/>
        </p:nvSpPr>
        <p:spPr>
          <a:xfrm>
            <a:off x="731520" y="640080"/>
            <a:ext cx="10698480" cy="594360"/>
          </a:xfrm>
          <a:prstGeom prst="rect">
            <a:avLst/>
          </a:prstGeom>
          <a:noFill/>
        </p:spPr>
        <p:txBody>
          <a:bodyPr wrap="square" lIns="0" tIns="0" rIns="0" bIns="0">
            <a:spAutoFit/>
          </a:bodyPr>
          <a:lstStyle/>
          <a:p>
            <a:pPr>
              <a:defRPr sz="2200" b="1">
                <a:solidFill>
                  <a:srgbClr val="0F172A"/>
                </a:solidFill>
              </a:defRPr>
            </a:pPr>
            <a:r>
              <a:t>Community Relief Hub — Decentralized Mutual Aid</a:t>
            </a:r>
          </a:p>
        </p:txBody>
      </p:sp>
      <p:sp>
        <p:nvSpPr>
          <p:cNvPr id="4" name="Rounded Rectangle 3"/>
          <p:cNvSpPr/>
          <p:nvPr/>
        </p:nvSpPr>
        <p:spPr>
          <a:xfrm>
            <a:off x="731520" y="1463040"/>
            <a:ext cx="3328416"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2962656" cy="4297680"/>
          </a:xfrm>
          <a:prstGeom prst="rect">
            <a:avLst/>
          </a:prstGeom>
          <a:noFill/>
        </p:spPr>
        <p:txBody>
          <a:bodyPr wrap="square" lIns="0" tIns="0" rIns="0" bIns="0">
            <a:spAutoFit/>
          </a:bodyPr>
          <a:lstStyle/>
          <a:p>
            <a:pPr>
              <a:spcAft>
                <a:spcPts val="800"/>
              </a:spcAft>
              <a:defRPr sz="1500" b="1">
                <a:solidFill>
                  <a:srgbClr val="DC2626"/>
                </a:solidFill>
              </a:defRPr>
            </a:pPr>
            <a:r>
              <a:t>🚨 Emergency SOS Requests</a:t>
            </a:r>
          </a:p>
          <a:p>
            <a:pPr>
              <a:defRPr sz="1400" b="1">
                <a:solidFill>
                  <a:srgbClr val="DC2626"/>
                </a:solidFill>
              </a:defRPr>
            </a:pPr>
            <a:r>
              <a:t>• Direct Citizen Request Form</a:t>
            </a:r>
          </a:p>
          <a:p>
            <a:pPr>
              <a:spcAft>
                <a:spcPts val="800"/>
              </a:spcAft>
              <a:defRPr sz="1250">
                <a:solidFill>
                  <a:srgbClr val="0F172A"/>
                </a:solidFill>
              </a:defRPr>
            </a:pPr>
            <a:r>
              <a:t>Allows stranded flood victims to request urgent assistance with category tagging:</a:t>
            </a:r>
            <a:br/>
            <a:r>
              <a:t>• 🍞 Food / Drinking Water</a:t>
            </a:r>
            <a:br/>
            <a:r>
              <a:t>• 💊 Emergency Medical Aid</a:t>
            </a:r>
            <a:br/>
            <a:r>
              <a:t>• 🚤 Boat Evacuation Needed</a:t>
            </a:r>
            <a:br/>
            <a:r>
              <a:t>• ⛺ Emergency Shelter</a:t>
            </a:r>
          </a:p>
          <a:p>
            <a:pPr>
              <a:defRPr sz="1400" b="1">
                <a:solidFill>
                  <a:srgbClr val="DC2626"/>
                </a:solidFill>
              </a:defRPr>
            </a:pPr>
            <a:r>
              <a:t>• Urgent Priority Flags</a:t>
            </a:r>
          </a:p>
          <a:p>
            <a:pPr>
              <a:defRPr sz="1250">
                <a:solidFill>
                  <a:srgbClr val="0F172A"/>
                </a:solidFill>
              </a:defRPr>
            </a:pPr>
            <a:r>
              <a:t>Marks high-severity cases (infants, elderly, critical illness) with pulsating red map pins.</a:t>
            </a:r>
          </a:p>
        </p:txBody>
      </p:sp>
      <p:sp>
        <p:nvSpPr>
          <p:cNvPr id="6" name="Rounded Rectangle 5"/>
          <p:cNvSpPr/>
          <p:nvPr/>
        </p:nvSpPr>
        <p:spPr>
          <a:xfrm>
            <a:off x="4425696" y="1463040"/>
            <a:ext cx="3328416"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08576" y="1645920"/>
            <a:ext cx="2962656" cy="4297680"/>
          </a:xfrm>
          <a:prstGeom prst="rect">
            <a:avLst/>
          </a:prstGeom>
          <a:noFill/>
        </p:spPr>
        <p:txBody>
          <a:bodyPr wrap="square" lIns="0" tIns="0" rIns="0" bIns="0">
            <a:spAutoFit/>
          </a:bodyPr>
          <a:lstStyle/>
          <a:p>
            <a:pPr>
              <a:spcAft>
                <a:spcPts val="800"/>
              </a:spcAft>
              <a:defRPr sz="1500" b="1">
                <a:solidFill>
                  <a:srgbClr val="059669"/>
                </a:solidFill>
              </a:defRPr>
            </a:pPr>
            <a:r>
              <a:t>🤝 Volunteer Supply Offers</a:t>
            </a:r>
          </a:p>
          <a:p>
            <a:pPr>
              <a:defRPr sz="1400" b="1">
                <a:solidFill>
                  <a:srgbClr val="059669"/>
                </a:solidFill>
              </a:defRPr>
            </a:pPr>
            <a:r>
              <a:t>• Aid Registration Hub</a:t>
            </a:r>
          </a:p>
          <a:p>
            <a:pPr>
              <a:spcAft>
                <a:spcPts val="800"/>
              </a:spcAft>
              <a:defRPr sz="1250">
                <a:solidFill>
                  <a:srgbClr val="0F172A"/>
                </a:solidFill>
              </a:defRPr>
            </a:pPr>
            <a:r>
              <a:t>NGOs and local volunteers register available relief resources:</a:t>
            </a:r>
            <a:br/>
            <a:r>
              <a:t>• Dry ration kits &amp; clean water tanks</a:t>
            </a:r>
            <a:br/>
            <a:r>
              <a:t>• First-aid &amp; medical supplies</a:t>
            </a:r>
            <a:br/>
            <a:r>
              <a:t>• Inflatable rescue dinghies</a:t>
            </a:r>
            <a:br/>
            <a:r>
              <a:t>• Community kitchen locations</a:t>
            </a:r>
          </a:p>
          <a:p>
            <a:pPr>
              <a:defRPr sz="1400" b="1">
                <a:solidFill>
                  <a:srgbClr val="059669"/>
                </a:solidFill>
              </a:defRPr>
            </a:pPr>
            <a:r>
              <a:t>• Contact &amp; Delivery Trigger</a:t>
            </a:r>
          </a:p>
          <a:p>
            <a:pPr>
              <a:defRPr sz="1250">
                <a:solidFill>
                  <a:srgbClr val="0F172A"/>
                </a:solidFill>
              </a:defRPr>
            </a:pPr>
            <a:r>
              <a:t>Provides direct phone dialer and WhatsApp triggers for rapid field dispatch.</a:t>
            </a:r>
          </a:p>
        </p:txBody>
      </p:sp>
      <p:sp>
        <p:nvSpPr>
          <p:cNvPr id="8" name="Rounded Rectangle 7"/>
          <p:cNvSpPr/>
          <p:nvPr/>
        </p:nvSpPr>
        <p:spPr>
          <a:xfrm>
            <a:off x="8119872" y="1463040"/>
            <a:ext cx="3328416"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02752" y="1645920"/>
            <a:ext cx="2962656" cy="4297680"/>
          </a:xfrm>
          <a:prstGeom prst="rect">
            <a:avLst/>
          </a:prstGeom>
          <a:noFill/>
        </p:spPr>
        <p:txBody>
          <a:bodyPr wrap="square" lIns="0" tIns="0" rIns="0" bIns="0">
            <a:spAutoFit/>
          </a:bodyPr>
          <a:lstStyle/>
          <a:p>
            <a:pPr>
              <a:spcAft>
                <a:spcPts val="800"/>
              </a:spcAft>
              <a:defRPr sz="1500" b="1">
                <a:solidFill>
                  <a:srgbClr val="0284C7"/>
                </a:solidFill>
              </a:defRPr>
            </a:pPr>
            <a:r>
              <a:t>📍 Live Spatial Matching</a:t>
            </a:r>
          </a:p>
          <a:p>
            <a:pPr>
              <a:defRPr sz="1400" b="1">
                <a:solidFill>
                  <a:srgbClr val="0369A1"/>
                </a:solidFill>
              </a:defRPr>
            </a:pPr>
            <a:r>
              <a:t>• Interactive Map Pins</a:t>
            </a:r>
          </a:p>
          <a:p>
            <a:pPr>
              <a:spcAft>
                <a:spcPts val="800"/>
              </a:spcAft>
              <a:defRPr sz="1250">
                <a:solidFill>
                  <a:srgbClr val="0F172A"/>
                </a:solidFill>
              </a:defRPr>
            </a:pPr>
            <a:r>
              <a:t>All supply drops (green markers) and SOS requests (red markers) render live alongside flood extent polygons.</a:t>
            </a:r>
          </a:p>
          <a:p>
            <a:pPr>
              <a:defRPr sz="1400" b="1">
                <a:solidFill>
                  <a:srgbClr val="0369A1"/>
                </a:solidFill>
              </a:defRPr>
            </a:pPr>
            <a:r>
              <a:t>• Local Storage Persistence</a:t>
            </a:r>
          </a:p>
          <a:p>
            <a:pPr>
              <a:defRPr sz="1250">
                <a:solidFill>
                  <a:srgbClr val="0F172A"/>
                </a:solidFill>
              </a:defRPr>
            </a:pPr>
            <a:r>
              <a:t>Stores community items across browser sessions, with quick filters by resource category and urgency.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284C7"/>
                </a:solidFill>
              </a:defRPr>
            </a:pPr>
            <a:r>
              <a:t>RUDRA (MECHANICAL) — GIS RISK ANALYST</a:t>
            </a:r>
          </a:p>
        </p:txBody>
      </p:sp>
      <p:sp>
        <p:nvSpPr>
          <p:cNvPr id="3" name="TextBox 2"/>
          <p:cNvSpPr txBox="1"/>
          <p:nvPr/>
        </p:nvSpPr>
        <p:spPr>
          <a:xfrm>
            <a:off x="731520" y="640080"/>
            <a:ext cx="10698480" cy="594360"/>
          </a:xfrm>
          <a:prstGeom prst="rect">
            <a:avLst/>
          </a:prstGeom>
          <a:noFill/>
        </p:spPr>
        <p:txBody>
          <a:bodyPr wrap="square" lIns="0" tIns="0" rIns="0" bIns="0">
            <a:spAutoFit/>
          </a:bodyPr>
          <a:lstStyle/>
          <a:p>
            <a:pPr>
              <a:defRPr sz="2200" b="1">
                <a:solidFill>
                  <a:srgbClr val="0F172A"/>
                </a:solidFill>
              </a:defRPr>
            </a:pPr>
            <a:r>
              <a:t>GIS Multi-Criteria Risk Modeling &amp; Infrastructure Exposure</a:t>
            </a:r>
          </a:p>
        </p:txBody>
      </p:sp>
      <p:sp>
        <p:nvSpPr>
          <p:cNvPr id="4" name="Rounded Rectangle 3"/>
          <p:cNvSpPr/>
          <p:nvPr/>
        </p:nvSpPr>
        <p:spPr>
          <a:xfrm>
            <a:off x="731520" y="1463040"/>
            <a:ext cx="512064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4754880" cy="4297680"/>
          </a:xfrm>
          <a:prstGeom prst="rect">
            <a:avLst/>
          </a:prstGeom>
          <a:noFill/>
        </p:spPr>
        <p:txBody>
          <a:bodyPr wrap="square" lIns="0" tIns="0" rIns="0" bIns="0">
            <a:spAutoFit/>
          </a:bodyPr>
          <a:lstStyle/>
          <a:p>
            <a:pPr>
              <a:spcAft>
                <a:spcPts val="800"/>
              </a:spcAft>
              <a:defRPr sz="1500" b="1">
                <a:solidFill>
                  <a:srgbClr val="0284C7"/>
                </a:solidFill>
              </a:defRPr>
            </a:pPr>
            <a:r>
              <a:t>📊 Multi-Criteria Hazard Scoring (QGIS)</a:t>
            </a:r>
          </a:p>
          <a:p>
            <a:pPr>
              <a:defRPr sz="1300" b="1">
                <a:solidFill>
                  <a:srgbClr val="0369A1"/>
                </a:solidFill>
              </a:defRPr>
            </a:pPr>
            <a:r>
              <a:t>• Multi-Factor Risk Formula:</a:t>
            </a:r>
          </a:p>
          <a:p>
            <a:pPr>
              <a:spcAft>
                <a:spcPts val="600"/>
              </a:spcAft>
              <a:defRPr sz="1200">
                <a:solidFill>
                  <a:srgbClr val="64748B"/>
                </a:solidFill>
              </a:defRPr>
            </a:pPr>
            <a:r>
              <a:t>Risk = w_f·(Flood Depth/Extent) + w_h·(1 / Dist_Hospital) + w_r·(Road Severance Index)</a:t>
            </a:r>
          </a:p>
          <a:p>
            <a:pPr>
              <a:defRPr sz="1300" b="1">
                <a:solidFill>
                  <a:srgbClr val="0369A1"/>
                </a:solidFill>
              </a:defRPr>
            </a:pPr>
            <a:r>
              <a:t>• Classified Risk Distribution:</a:t>
            </a:r>
          </a:p>
          <a:p>
            <a:pPr>
              <a:defRPr sz="1200">
                <a:solidFill>
                  <a:srgbClr val="0F172A"/>
                </a:solidFill>
              </a:defRPr>
            </a:pPr>
            <a:r>
              <a:t>🔴 High Risk: 272.15 km² (41.22%)</a:t>
            </a:r>
            <a:br/>
            <a:r>
              <a:t>   Submerged areas within 2km of hospitals or blocking main arterial highways.</a:t>
            </a:r>
            <a:br/>
            <a:br/>
            <a:r>
              <a:t>🟠 Medium Risk: 190.55 km² (28.86%)</a:t>
            </a:r>
            <a:br/>
            <a:r>
              <a:t>   Flooded secondary agricultural and local road networks.</a:t>
            </a:r>
            <a:br/>
            <a:br/>
            <a:r>
              <a:t>🟢 Low Risk: 197.55 km² (29.92%)</a:t>
            </a:r>
            <a:br/>
            <a:r>
              <a:t>   Inundated open floodplains far from human settlement.</a:t>
            </a:r>
          </a:p>
        </p:txBody>
      </p:sp>
      <p:sp>
        <p:nvSpPr>
          <p:cNvPr id="6" name="Rounded Rectangle 5"/>
          <p:cNvSpPr/>
          <p:nvPr/>
        </p:nvSpPr>
        <p:spPr>
          <a:xfrm>
            <a:off x="6217920" y="1463040"/>
            <a:ext cx="512064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45920"/>
            <a:ext cx="4754880" cy="4297680"/>
          </a:xfrm>
          <a:prstGeom prst="rect">
            <a:avLst/>
          </a:prstGeom>
          <a:noFill/>
        </p:spPr>
        <p:txBody>
          <a:bodyPr wrap="square" lIns="0" tIns="0" rIns="0" bIns="0">
            <a:spAutoFit/>
          </a:bodyPr>
          <a:lstStyle/>
          <a:p>
            <a:pPr>
              <a:spcAft>
                <a:spcPts val="800"/>
              </a:spcAft>
              <a:defRPr sz="1500" b="1">
                <a:solidFill>
                  <a:srgbClr val="0284C7"/>
                </a:solidFill>
              </a:defRPr>
            </a:pPr>
            <a:r>
              <a:t>🏥 Critical Asset Exposure &amp; Logistics</a:t>
            </a:r>
          </a:p>
          <a:p>
            <a:pPr>
              <a:defRPr sz="1300" b="1">
                <a:solidFill>
                  <a:srgbClr val="0369A1"/>
                </a:solidFill>
              </a:defRPr>
            </a:pPr>
            <a:r>
              <a:t>• 20+ Hospitals Actively Monitored</a:t>
            </a:r>
          </a:p>
          <a:p>
            <a:pPr>
              <a:spcAft>
                <a:spcPts val="800"/>
              </a:spcAft>
              <a:defRPr sz="1200">
                <a:solidFill>
                  <a:srgbClr val="64748B"/>
                </a:solidFill>
              </a:defRPr>
            </a:pPr>
            <a:r>
              <a:t>Tracks emergency bed capacities, surgical centers, and access road status across Kamrup, Barpeta, and Goalpara districts.</a:t>
            </a:r>
          </a:p>
          <a:p>
            <a:pPr>
              <a:defRPr sz="1300" b="1">
                <a:solidFill>
                  <a:srgbClr val="0369A1"/>
                </a:solidFill>
              </a:defRPr>
            </a:pPr>
            <a:r>
              <a:t>• Road Cut-Off Proactive Warning</a:t>
            </a:r>
          </a:p>
          <a:p>
            <a:pPr>
              <a:spcAft>
                <a:spcPts val="800"/>
              </a:spcAft>
              <a:defRPr sz="1200">
                <a:solidFill>
                  <a:srgbClr val="64748B"/>
                </a:solidFill>
              </a:defRPr>
            </a:pPr>
            <a:r>
              <a:t>Identifies critical transport corridors at risk of complete isolation before peak water levels crest, allowing early medical airlifts and oxygen stockpiling.</a:t>
            </a:r>
          </a:p>
          <a:p>
            <a:pPr>
              <a:defRPr sz="1300" b="1">
                <a:solidFill>
                  <a:srgbClr val="0369A1"/>
                </a:solidFill>
              </a:defRPr>
            </a:pPr>
            <a:r>
              <a:t>• Actionable Relief Prioritization</a:t>
            </a:r>
          </a:p>
          <a:p>
            <a:pPr>
              <a:defRPr sz="1200">
                <a:solidFill>
                  <a:srgbClr val="64748B"/>
                </a:solidFill>
              </a:defRPr>
            </a:pPr>
            <a:r>
              <a:t>Directs NDRF/SDRF boat crews to High Risk zones first, maximizing lives saved per rescue sortie.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284C7"/>
                </a:solidFill>
              </a:defRPr>
            </a:pPr>
            <a:r>
              <a:t>VISUAL PROOF OF DETECTION</a:t>
            </a:r>
          </a:p>
        </p:txBody>
      </p:sp>
      <p:sp>
        <p:nvSpPr>
          <p:cNvPr id="3" name="TextBox 2"/>
          <p:cNvSpPr txBox="1"/>
          <p:nvPr/>
        </p:nvSpPr>
        <p:spPr>
          <a:xfrm>
            <a:off x="731520" y="640080"/>
            <a:ext cx="10698480" cy="594360"/>
          </a:xfrm>
          <a:prstGeom prst="rect">
            <a:avLst/>
          </a:prstGeom>
          <a:noFill/>
        </p:spPr>
        <p:txBody>
          <a:bodyPr wrap="square" lIns="0" tIns="0" rIns="0" bIns="0">
            <a:spAutoFit/>
          </a:bodyPr>
          <a:lstStyle/>
          <a:p>
            <a:pPr>
              <a:defRPr sz="2200" b="1">
                <a:solidFill>
                  <a:srgbClr val="0F172A"/>
                </a:solidFill>
              </a:defRPr>
            </a:pPr>
            <a:r>
              <a:t>Satellite SAR Analytics &amp; Image Comparison</a:t>
            </a:r>
          </a:p>
        </p:txBody>
      </p:sp>
      <p:sp>
        <p:nvSpPr>
          <p:cNvPr id="4" name="Rounded Rectangle 3"/>
          <p:cNvSpPr/>
          <p:nvPr/>
        </p:nvSpPr>
        <p:spPr>
          <a:xfrm>
            <a:off x="731520" y="1463040"/>
            <a:ext cx="246888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2103120" cy="4297680"/>
          </a:xfrm>
          <a:prstGeom prst="rect">
            <a:avLst/>
          </a:prstGeom>
          <a:noFill/>
        </p:spPr>
        <p:txBody>
          <a:bodyPr wrap="square" lIns="0" tIns="0" rIns="0" bIns="0">
            <a:spAutoFit/>
          </a:bodyPr>
          <a:lstStyle/>
          <a:p>
            <a:pPr>
              <a:spcAft>
                <a:spcPts val="800"/>
              </a:spcAft>
              <a:defRPr sz="1500" b="1">
                <a:solidFill>
                  <a:srgbClr val="0284C7"/>
                </a:solidFill>
              </a:defRPr>
            </a:pPr>
            <a:r>
              <a:t>1. Pre-Flood Baseline</a:t>
            </a:r>
          </a:p>
          <a:p>
            <a:pPr>
              <a:defRPr sz="1200" b="1">
                <a:solidFill>
                  <a:srgbClr val="0369A1"/>
                </a:solidFill>
              </a:defRPr>
            </a:pPr>
            <a:r>
              <a:t>📅 29 June 2024</a:t>
            </a:r>
          </a:p>
          <a:p>
            <a:pPr>
              <a:defRPr sz="1150">
                <a:solidFill>
                  <a:srgbClr val="64748B"/>
                </a:solidFill>
              </a:defRPr>
            </a:pPr>
            <a:r>
              <a:t>• Sentinel-1 SAR Base</a:t>
            </a:r>
            <a:br/>
            <a:r>
              <a:t>• Normal Brahmaputra river channel</a:t>
            </a:r>
            <a:br/>
            <a:r>
              <a:t>• High backscatter return across dry agricultural land</a:t>
            </a:r>
            <a:br/>
            <a:r>
              <a:t>• VV/VH polarization baseline</a:t>
            </a:r>
          </a:p>
        </p:txBody>
      </p:sp>
      <p:sp>
        <p:nvSpPr>
          <p:cNvPr id="6" name="Rounded Rectangle 5"/>
          <p:cNvSpPr/>
          <p:nvPr/>
        </p:nvSpPr>
        <p:spPr>
          <a:xfrm>
            <a:off x="3456432" y="1463040"/>
            <a:ext cx="246888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39312" y="1645920"/>
            <a:ext cx="2103120" cy="4297680"/>
          </a:xfrm>
          <a:prstGeom prst="rect">
            <a:avLst/>
          </a:prstGeom>
          <a:noFill/>
        </p:spPr>
        <p:txBody>
          <a:bodyPr wrap="square" lIns="0" tIns="0" rIns="0" bIns="0">
            <a:spAutoFit/>
          </a:bodyPr>
          <a:lstStyle/>
          <a:p>
            <a:pPr>
              <a:spcAft>
                <a:spcPts val="800"/>
              </a:spcAft>
              <a:defRPr sz="1500" b="1">
                <a:solidFill>
                  <a:srgbClr val="DC2626"/>
                </a:solidFill>
              </a:defRPr>
            </a:pPr>
            <a:r>
              <a:t>2. Peak Flood Capture</a:t>
            </a:r>
          </a:p>
          <a:p>
            <a:pPr>
              <a:defRPr sz="1200" b="1">
                <a:solidFill>
                  <a:srgbClr val="DC2626"/>
                </a:solidFill>
              </a:defRPr>
            </a:pPr>
            <a:r>
              <a:t>📅 11 July 2024</a:t>
            </a:r>
          </a:p>
          <a:p>
            <a:pPr>
              <a:defRPr sz="1150">
                <a:solidFill>
                  <a:srgbClr val="64748B"/>
                </a:solidFill>
              </a:defRPr>
            </a:pPr>
            <a:r>
              <a:t>• Peak Inundation Pass</a:t>
            </a:r>
            <a:br/>
            <a:r>
              <a:t>• Massive specular reflection expansion</a:t>
            </a:r>
            <a:br/>
            <a:r>
              <a:t>• Widespread signal attenuation across rural districts</a:t>
            </a:r>
            <a:br/>
            <a:r>
              <a:t>• Acquired through thick monsoon cloud cover</a:t>
            </a:r>
          </a:p>
        </p:txBody>
      </p:sp>
      <p:sp>
        <p:nvSpPr>
          <p:cNvPr id="8" name="Rounded Rectangle 7"/>
          <p:cNvSpPr/>
          <p:nvPr/>
        </p:nvSpPr>
        <p:spPr>
          <a:xfrm>
            <a:off x="6181344" y="1463040"/>
            <a:ext cx="246888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64224" y="1645920"/>
            <a:ext cx="2103120" cy="4297680"/>
          </a:xfrm>
          <a:prstGeom prst="rect">
            <a:avLst/>
          </a:prstGeom>
          <a:noFill/>
        </p:spPr>
        <p:txBody>
          <a:bodyPr wrap="square" lIns="0" tIns="0" rIns="0" bIns="0">
            <a:spAutoFit/>
          </a:bodyPr>
          <a:lstStyle/>
          <a:p>
            <a:pPr>
              <a:spcAft>
                <a:spcPts val="800"/>
              </a:spcAft>
              <a:defRPr sz="1500" b="1">
                <a:solidFill>
                  <a:srgbClr val="D97706"/>
                </a:solidFill>
              </a:defRPr>
            </a:pPr>
            <a:r>
              <a:t>3. SAR Change Heatmap</a:t>
            </a:r>
          </a:p>
          <a:p>
            <a:pPr>
              <a:defRPr sz="1200" b="1">
                <a:solidFill>
                  <a:srgbClr val="D97706"/>
                </a:solidFill>
              </a:defRPr>
            </a:pPr>
            <a:r>
              <a:t>Δσ⁰ Difference (dB)</a:t>
            </a:r>
          </a:p>
          <a:p>
            <a:pPr>
              <a:defRPr sz="1150">
                <a:solidFill>
                  <a:srgbClr val="64748B"/>
                </a:solidFill>
              </a:defRPr>
            </a:pPr>
            <a:r>
              <a:t>• Backscatter Delta Ratio</a:t>
            </a:r>
            <a:br/>
            <a:r>
              <a:t>• Highlights exact zones of sudden radar signal loss</a:t>
            </a:r>
            <a:br/>
            <a:r>
              <a:t>• Eliminates permanent water bodies to isolate new flood extent</a:t>
            </a:r>
          </a:p>
        </p:txBody>
      </p:sp>
      <p:sp>
        <p:nvSpPr>
          <p:cNvPr id="10" name="Rounded Rectangle 9"/>
          <p:cNvSpPr/>
          <p:nvPr/>
        </p:nvSpPr>
        <p:spPr>
          <a:xfrm>
            <a:off x="8906256" y="1463040"/>
            <a:ext cx="246888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89136" y="1645920"/>
            <a:ext cx="2103120" cy="4297680"/>
          </a:xfrm>
          <a:prstGeom prst="rect">
            <a:avLst/>
          </a:prstGeom>
          <a:noFill/>
        </p:spPr>
        <p:txBody>
          <a:bodyPr wrap="square" lIns="0" tIns="0" rIns="0" bIns="0">
            <a:spAutoFit/>
          </a:bodyPr>
          <a:lstStyle/>
          <a:p>
            <a:pPr>
              <a:spcAft>
                <a:spcPts val="800"/>
              </a:spcAft>
              <a:defRPr sz="1500" b="1">
                <a:solidFill>
                  <a:srgbClr val="059669"/>
                </a:solidFill>
              </a:defRPr>
            </a:pPr>
            <a:r>
              <a:t>4. Classified Flood Mask</a:t>
            </a:r>
          </a:p>
          <a:p>
            <a:pPr>
              <a:defRPr sz="1200" b="1">
                <a:solidFill>
                  <a:srgbClr val="059669"/>
                </a:solidFill>
              </a:defRPr>
            </a:pPr>
            <a:r>
              <a:t>Vector Extent Mask</a:t>
            </a:r>
          </a:p>
          <a:p>
            <a:pPr>
              <a:defRPr sz="1150">
                <a:solidFill>
                  <a:srgbClr val="64748B"/>
                </a:solidFill>
              </a:defRPr>
            </a:pPr>
            <a:r>
              <a:t>• 723.94 km² Extent</a:t>
            </a:r>
            <a:br/>
            <a:r>
              <a:t>• Thresholded &amp; morphologically cleaned</a:t>
            </a:r>
            <a:br/>
            <a:r>
              <a:t>• Converted to WGS84 GeoJSON polygons for Leaflet rendering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284C7"/>
                </a:solidFill>
              </a:defRPr>
            </a:pPr>
            <a:r>
              <a:t>PRODUCTION ARCHITECTURE</a:t>
            </a:r>
          </a:p>
        </p:txBody>
      </p:sp>
      <p:sp>
        <p:nvSpPr>
          <p:cNvPr id="3" name="TextBox 2"/>
          <p:cNvSpPr txBox="1"/>
          <p:nvPr/>
        </p:nvSpPr>
        <p:spPr>
          <a:xfrm>
            <a:off x="731520" y="640080"/>
            <a:ext cx="10698480" cy="594360"/>
          </a:xfrm>
          <a:prstGeom prst="rect">
            <a:avLst/>
          </a:prstGeom>
          <a:noFill/>
        </p:spPr>
        <p:txBody>
          <a:bodyPr wrap="square" lIns="0" tIns="0" rIns="0" bIns="0">
            <a:spAutoFit/>
          </a:bodyPr>
          <a:lstStyle/>
          <a:p>
            <a:pPr>
              <a:defRPr sz="2200" b="1">
                <a:solidFill>
                  <a:srgbClr val="0F172A"/>
                </a:solidFill>
              </a:defRPr>
            </a:pPr>
            <a:r>
              <a:t>Complete Technology Stack &amp; Deployment</a:t>
            </a:r>
          </a:p>
        </p:txBody>
      </p:sp>
      <p:sp>
        <p:nvSpPr>
          <p:cNvPr id="4" name="Rounded Rectangle 3"/>
          <p:cNvSpPr/>
          <p:nvPr/>
        </p:nvSpPr>
        <p:spPr>
          <a:xfrm>
            <a:off x="731520" y="1463040"/>
            <a:ext cx="10698480" cy="1051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10332720" cy="685800"/>
          </a:xfrm>
          <a:prstGeom prst="rect">
            <a:avLst/>
          </a:prstGeom>
          <a:noFill/>
        </p:spPr>
        <p:txBody>
          <a:bodyPr wrap="square" lIns="0" tIns="0" rIns="0" bIns="0">
            <a:spAutoFit/>
          </a:bodyPr>
          <a:lstStyle/>
          <a:p>
            <a:pPr>
              <a:spcAft>
                <a:spcPts val="800"/>
              </a:spcAft>
              <a:defRPr sz="1500" b="1">
                <a:solidFill>
                  <a:srgbClr val="0284C7"/>
                </a:solidFill>
              </a:defRPr>
            </a:pPr>
            <a:r>
              <a:t>🛰️ Satellite Data &amp; Sourcing</a:t>
            </a:r>
          </a:p>
          <a:p>
            <a:pPr>
              <a:defRPr sz="1250">
                <a:solidFill>
                  <a:srgbClr val="0F172A"/>
                </a:solidFill>
              </a:defRPr>
            </a:pPr>
            <a:r>
              <a:t>Copernicus Data Space Ecosystem (CDSE)  •  Sentinel-1 C-Band SAR (5.405 GHz)  •  OpenStreetMap (OSM) Road Infrastructure Graphs</a:t>
            </a:r>
          </a:p>
        </p:txBody>
      </p:sp>
      <p:sp>
        <p:nvSpPr>
          <p:cNvPr id="6" name="Rounded Rectangle 5"/>
          <p:cNvSpPr/>
          <p:nvPr/>
        </p:nvSpPr>
        <p:spPr>
          <a:xfrm>
            <a:off x="731520" y="2651760"/>
            <a:ext cx="10698480" cy="1051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834640"/>
            <a:ext cx="10332720" cy="685800"/>
          </a:xfrm>
          <a:prstGeom prst="rect">
            <a:avLst/>
          </a:prstGeom>
          <a:noFill/>
        </p:spPr>
        <p:txBody>
          <a:bodyPr wrap="square" lIns="0" tIns="0" rIns="0" bIns="0">
            <a:spAutoFit/>
          </a:bodyPr>
          <a:lstStyle/>
          <a:p>
            <a:pPr>
              <a:spcAft>
                <a:spcPts val="800"/>
              </a:spcAft>
              <a:defRPr sz="1500" b="1">
                <a:solidFill>
                  <a:srgbClr val="0284C7"/>
                </a:solidFill>
              </a:defRPr>
            </a:pPr>
            <a:r>
              <a:t>⚙️ Data Processing &amp; GIS Analytics</a:t>
            </a:r>
          </a:p>
          <a:p>
            <a:pPr>
              <a:defRPr sz="1250">
                <a:solidFill>
                  <a:srgbClr val="0F172A"/>
                </a:solidFill>
              </a:defRPr>
            </a:pPr>
            <a:r>
              <a:t>Python 3.14  •  Rasterio  •  GeoPandas  •  Shapely  •  Scipy Ndimage  •  QGIS 3.x Spatial Analysis &amp; Proximity Buffering</a:t>
            </a:r>
          </a:p>
        </p:txBody>
      </p:sp>
      <p:sp>
        <p:nvSpPr>
          <p:cNvPr id="8" name="Rounded Rectangle 7"/>
          <p:cNvSpPr/>
          <p:nvPr/>
        </p:nvSpPr>
        <p:spPr>
          <a:xfrm>
            <a:off x="731520" y="3840480"/>
            <a:ext cx="10698480" cy="1051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023360"/>
            <a:ext cx="10332720" cy="685800"/>
          </a:xfrm>
          <a:prstGeom prst="rect">
            <a:avLst/>
          </a:prstGeom>
          <a:noFill/>
        </p:spPr>
        <p:txBody>
          <a:bodyPr wrap="square" lIns="0" tIns="0" rIns="0" bIns="0">
            <a:spAutoFit/>
          </a:bodyPr>
          <a:lstStyle/>
          <a:p>
            <a:pPr>
              <a:spcAft>
                <a:spcPts val="800"/>
              </a:spcAft>
              <a:defRPr sz="1500" b="1">
                <a:solidFill>
                  <a:srgbClr val="0284C7"/>
                </a:solidFill>
              </a:defRPr>
            </a:pPr>
            <a:r>
              <a:t>💻 Backend API &amp; Web GIS Frontend</a:t>
            </a:r>
          </a:p>
          <a:p>
            <a:pPr>
              <a:defRPr sz="1250">
                <a:solidFill>
                  <a:srgbClr val="0F172A"/>
                </a:solidFill>
              </a:defRPr>
            </a:pPr>
            <a:r>
              <a:t>Flask REST API  •  Gunicorn WSGI  •  Leaflet.js 1.9  •  Turf.js Spatial Math  •  OSRM Highway Routing Engine  •  HTML5/CSS3/Vanilla JS</a:t>
            </a:r>
          </a:p>
        </p:txBody>
      </p:sp>
      <p:sp>
        <p:nvSpPr>
          <p:cNvPr id="10" name="Rounded Rectangle 9"/>
          <p:cNvSpPr/>
          <p:nvPr/>
        </p:nvSpPr>
        <p:spPr>
          <a:xfrm>
            <a:off x="731520" y="5029200"/>
            <a:ext cx="10698480" cy="1051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212080"/>
            <a:ext cx="10332720" cy="685800"/>
          </a:xfrm>
          <a:prstGeom prst="rect">
            <a:avLst/>
          </a:prstGeom>
          <a:noFill/>
        </p:spPr>
        <p:txBody>
          <a:bodyPr wrap="square" lIns="0" tIns="0" rIns="0" bIns="0">
            <a:spAutoFit/>
          </a:bodyPr>
          <a:lstStyle/>
          <a:p>
            <a:pPr>
              <a:spcAft>
                <a:spcPts val="800"/>
              </a:spcAft>
              <a:defRPr sz="1500" b="1">
                <a:solidFill>
                  <a:srgbClr val="059669"/>
                </a:solidFill>
              </a:defRPr>
            </a:pPr>
            <a:r>
              <a:t>☁️ Cloud Deployment &amp; Version Control</a:t>
            </a:r>
          </a:p>
          <a:p>
            <a:pPr>
              <a:defRPr sz="1250">
                <a:solidFill>
                  <a:srgbClr val="0F172A"/>
                </a:solidFill>
              </a:defRPr>
            </a:pPr>
            <a:r>
              <a:t>Render Cloud Web Service (Dynamic $PORT)  •  Procfile / render.yaml  •  Git / GitHub CI/CD  •  100% Open Source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284C7"/>
                </a:solidFill>
              </a:defRPr>
            </a:pPr>
            <a:r>
              <a:t>RUDRA (MECHANICAL) — ECONOMICS &amp; FEASIBILITY</a:t>
            </a:r>
          </a:p>
        </p:txBody>
      </p:sp>
      <p:sp>
        <p:nvSpPr>
          <p:cNvPr id="3" name="TextBox 2"/>
          <p:cNvSpPr txBox="1"/>
          <p:nvPr/>
        </p:nvSpPr>
        <p:spPr>
          <a:xfrm>
            <a:off x="731520" y="640080"/>
            <a:ext cx="10698480" cy="594360"/>
          </a:xfrm>
          <a:prstGeom prst="rect">
            <a:avLst/>
          </a:prstGeom>
          <a:noFill/>
        </p:spPr>
        <p:txBody>
          <a:bodyPr wrap="square" lIns="0" tIns="0" rIns="0" bIns="0">
            <a:spAutoFit/>
          </a:bodyPr>
          <a:lstStyle/>
          <a:p>
            <a:pPr>
              <a:defRPr sz="2200" b="1">
                <a:solidFill>
                  <a:srgbClr val="0F172A"/>
                </a:solidFill>
              </a:defRPr>
            </a:pPr>
            <a:r>
              <a:t>Operational Feasibility, Scalability &amp; Disaster Economics</a:t>
            </a:r>
          </a:p>
        </p:txBody>
      </p:sp>
      <p:sp>
        <p:nvSpPr>
          <p:cNvPr id="4" name="Rounded Rectangle 3"/>
          <p:cNvSpPr/>
          <p:nvPr/>
        </p:nvSpPr>
        <p:spPr>
          <a:xfrm>
            <a:off x="731520" y="1463040"/>
            <a:ext cx="3328416"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2962656" cy="4297680"/>
          </a:xfrm>
          <a:prstGeom prst="rect">
            <a:avLst/>
          </a:prstGeom>
          <a:noFill/>
        </p:spPr>
        <p:txBody>
          <a:bodyPr wrap="square" lIns="0" tIns="0" rIns="0" bIns="0">
            <a:spAutoFit/>
          </a:bodyPr>
          <a:lstStyle/>
          <a:p>
            <a:pPr>
              <a:spcAft>
                <a:spcPts val="800"/>
              </a:spcAft>
              <a:defRPr sz="1500" b="1">
                <a:solidFill>
                  <a:srgbClr val="059669"/>
                </a:solidFill>
              </a:defRPr>
            </a:pPr>
            <a:r>
              <a:t>💰 Zero Licensing Costs</a:t>
            </a:r>
          </a:p>
          <a:p>
            <a:pPr>
              <a:defRPr sz="1400" b="1">
                <a:solidFill>
                  <a:srgbClr val="059669"/>
                </a:solidFill>
              </a:defRPr>
            </a:pPr>
            <a:r>
              <a:t>• 100% Free Data Streams</a:t>
            </a:r>
          </a:p>
          <a:p>
            <a:pPr>
              <a:spcAft>
                <a:spcPts val="800"/>
              </a:spcAft>
              <a:defRPr sz="1250">
                <a:solidFill>
                  <a:srgbClr val="0F172A"/>
                </a:solidFill>
              </a:defRPr>
            </a:pPr>
            <a:r>
              <a:t>Sentinel-1 radar imagery is free under the European Space Agency (ESA) Open Access policy. OpenStreetMap road networks are free and globally maintained.</a:t>
            </a:r>
          </a:p>
          <a:p>
            <a:pPr>
              <a:defRPr sz="1400" b="1">
                <a:solidFill>
                  <a:srgbClr val="059669"/>
                </a:solidFill>
              </a:defRPr>
            </a:pPr>
            <a:r>
              <a:t>• No Commercial GIS Licenses</a:t>
            </a:r>
          </a:p>
          <a:p>
            <a:pPr>
              <a:defRPr sz="1250">
                <a:solidFill>
                  <a:srgbClr val="0F172A"/>
                </a:solidFill>
              </a:defRPr>
            </a:pPr>
            <a:r>
              <a:t>Eliminates multi-thousand dollar proprietary ArcGIS / satellite licenses, making it accessible to developing state disaster departments.</a:t>
            </a:r>
          </a:p>
        </p:txBody>
      </p:sp>
      <p:sp>
        <p:nvSpPr>
          <p:cNvPr id="6" name="Rounded Rectangle 5"/>
          <p:cNvSpPr/>
          <p:nvPr/>
        </p:nvSpPr>
        <p:spPr>
          <a:xfrm>
            <a:off x="4425696" y="1463040"/>
            <a:ext cx="3328416"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08576" y="1645920"/>
            <a:ext cx="2962656" cy="4297680"/>
          </a:xfrm>
          <a:prstGeom prst="rect">
            <a:avLst/>
          </a:prstGeom>
          <a:noFill/>
        </p:spPr>
        <p:txBody>
          <a:bodyPr wrap="square" lIns="0" tIns="0" rIns="0" bIns="0">
            <a:spAutoFit/>
          </a:bodyPr>
          <a:lstStyle/>
          <a:p>
            <a:pPr>
              <a:spcAft>
                <a:spcPts val="800"/>
              </a:spcAft>
              <a:defRPr sz="1500" b="1">
                <a:solidFill>
                  <a:srgbClr val="0284C7"/>
                </a:solidFill>
              </a:defRPr>
            </a:pPr>
            <a:r>
              <a:t>⚡ Extreme Scalability</a:t>
            </a:r>
          </a:p>
          <a:p>
            <a:pPr>
              <a:defRPr sz="1400" b="1">
                <a:solidFill>
                  <a:srgbClr val="0369A1"/>
                </a:solidFill>
              </a:defRPr>
            </a:pPr>
            <a:r>
              <a:t>• Client-Side Distributed Math</a:t>
            </a:r>
          </a:p>
          <a:p>
            <a:pPr>
              <a:spcAft>
                <a:spcPts val="800"/>
              </a:spcAft>
              <a:defRPr sz="1250">
                <a:solidFill>
                  <a:srgbClr val="0F172A"/>
                </a:solidFill>
              </a:defRPr>
            </a:pPr>
            <a:r>
              <a:t>Spatial polygon collision testing and route avoidance are executed client-side via Turf.js in the user's browser.</a:t>
            </a:r>
          </a:p>
          <a:p>
            <a:pPr>
              <a:defRPr sz="1400" b="1">
                <a:solidFill>
                  <a:srgbClr val="0369A1"/>
                </a:solidFill>
              </a:defRPr>
            </a:pPr>
            <a:r>
              <a:t>• Server Never Crashes</a:t>
            </a:r>
          </a:p>
          <a:p>
            <a:pPr>
              <a:defRPr sz="1250">
                <a:solidFill>
                  <a:srgbClr val="0F172A"/>
                </a:solidFill>
              </a:defRPr>
            </a:pPr>
            <a:r>
              <a:t>Because route calculation is offloaded to client devices, thousands of simultaneous disaster evacuees can use the system without overloading the server.</a:t>
            </a:r>
          </a:p>
        </p:txBody>
      </p:sp>
      <p:sp>
        <p:nvSpPr>
          <p:cNvPr id="8" name="Rounded Rectangle 7"/>
          <p:cNvSpPr/>
          <p:nvPr/>
        </p:nvSpPr>
        <p:spPr>
          <a:xfrm>
            <a:off x="8119872" y="1463040"/>
            <a:ext cx="3328416"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02752" y="1645920"/>
            <a:ext cx="2962656" cy="4297680"/>
          </a:xfrm>
          <a:prstGeom prst="rect">
            <a:avLst/>
          </a:prstGeom>
          <a:noFill/>
        </p:spPr>
        <p:txBody>
          <a:bodyPr wrap="square" lIns="0" tIns="0" rIns="0" bIns="0">
            <a:spAutoFit/>
          </a:bodyPr>
          <a:lstStyle/>
          <a:p>
            <a:pPr>
              <a:spcAft>
                <a:spcPts val="800"/>
              </a:spcAft>
              <a:defRPr sz="1500" b="1">
                <a:solidFill>
                  <a:srgbClr val="0284C7"/>
                </a:solidFill>
              </a:defRPr>
            </a:pPr>
            <a:r>
              <a:t>🌍 Global Portability</a:t>
            </a:r>
          </a:p>
          <a:p>
            <a:pPr>
              <a:defRPr sz="1400" b="1">
                <a:solidFill>
                  <a:srgbClr val="0369A1"/>
                </a:solidFill>
              </a:defRPr>
            </a:pPr>
            <a:r>
              <a:t>• Universal Applicability</a:t>
            </a:r>
          </a:p>
          <a:p>
            <a:pPr>
              <a:spcAft>
                <a:spcPts val="800"/>
              </a:spcAft>
              <a:defRPr sz="1250">
                <a:solidFill>
                  <a:srgbClr val="0F172A"/>
                </a:solidFill>
              </a:defRPr>
            </a:pPr>
            <a:r>
              <a:t>By simply changing the bounding-box coordinates, our pipeline instantly adapts to any flood-prone river basin globally (Ganges, Mississippi, Mekong, Rhine).</a:t>
            </a:r>
          </a:p>
          <a:p>
            <a:pPr>
              <a:defRPr sz="1400" b="1">
                <a:solidFill>
                  <a:srgbClr val="0369A1"/>
                </a:solidFill>
              </a:defRPr>
            </a:pPr>
            <a:r>
              <a:t>• Minimal Infrastructure Cost</a:t>
            </a:r>
          </a:p>
          <a:p>
            <a:pPr>
              <a:defRPr sz="1250">
                <a:solidFill>
                  <a:srgbClr val="0F172A"/>
                </a:solidFill>
              </a:defRPr>
            </a:pPr>
            <a:r>
              <a:t>Runs comfortably on lightweight cloud servers costing less than $10/month per state authority.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731520"/>
            <a:ext cx="10698480" cy="1097280"/>
          </a:xfrm>
          <a:prstGeom prst="rect">
            <a:avLst/>
          </a:prstGeom>
          <a:noFill/>
        </p:spPr>
        <p:txBody>
          <a:bodyPr wrap="none">
            <a:spAutoFit/>
          </a:bodyPr>
          <a:lstStyle/>
          <a:p>
            <a:pPr>
              <a:defRPr sz="3000" b="1">
                <a:solidFill>
                  <a:srgbClr val="FFFFFF"/>
                </a:solidFill>
              </a:defRPr>
            </a:pPr>
            <a:r>
              <a:t>Disaster Management Impact &amp; Summary</a:t>
            </a:r>
          </a:p>
          <a:p>
            <a:pPr>
              <a:spcBef>
                <a:spcPts val="400"/>
              </a:spcBef>
              <a:defRPr sz="1500">
                <a:solidFill>
                  <a:srgbClr val="94A3B8"/>
                </a:solidFill>
              </a:defRPr>
            </a:pPr>
            <a:r>
              <a:t>Transforming Space Radar Intelligence into Ground-Level Life-Saving Action</a:t>
            </a:r>
          </a:p>
        </p:txBody>
      </p:sp>
      <p:sp>
        <p:nvSpPr>
          <p:cNvPr id="3" name="Rounded Rectangle 2"/>
          <p:cNvSpPr/>
          <p:nvPr/>
        </p:nvSpPr>
        <p:spPr>
          <a:xfrm>
            <a:off x="731520" y="2011680"/>
            <a:ext cx="3328416" cy="38404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194560"/>
            <a:ext cx="2962656" cy="3474720"/>
          </a:xfrm>
          <a:prstGeom prst="rect">
            <a:avLst/>
          </a:prstGeom>
          <a:noFill/>
        </p:spPr>
        <p:txBody>
          <a:bodyPr wrap="square" lIns="0" tIns="0" rIns="0" bIns="0">
            <a:spAutoFit/>
          </a:bodyPr>
          <a:lstStyle/>
          <a:p>
            <a:pPr>
              <a:spcAft>
                <a:spcPts val="800"/>
              </a:spcAft>
              <a:defRPr sz="1500" b="1">
                <a:solidFill>
                  <a:srgbClr val="0284C7"/>
                </a:solidFill>
              </a:defRPr>
            </a:pPr>
            <a:r>
              <a:t>⏱️ 6h ➔ 30s Latency</a:t>
            </a:r>
          </a:p>
          <a:p>
            <a:pPr>
              <a:defRPr sz="1400" b="1">
                <a:solidFill>
                  <a:srgbClr val="E2E8F0"/>
                </a:solidFill>
              </a:defRPr>
            </a:pPr>
            <a:r>
              <a:t>Rapid Decision Speed</a:t>
            </a:r>
          </a:p>
          <a:p>
            <a:pPr>
              <a:defRPr sz="1200">
                <a:solidFill>
                  <a:srgbClr val="94A3B8"/>
                </a:solidFill>
              </a:defRPr>
            </a:pPr>
            <a:r>
              <a:t>Replaces 6–8 hours of manual satellite downloading and GIS polygon tracing with an automated 30-second pipeline execution, delivering actionable maps before floodwaters shift.</a:t>
            </a:r>
          </a:p>
        </p:txBody>
      </p:sp>
      <p:sp>
        <p:nvSpPr>
          <p:cNvPr id="5" name="Rounded Rectangle 4"/>
          <p:cNvSpPr/>
          <p:nvPr/>
        </p:nvSpPr>
        <p:spPr>
          <a:xfrm>
            <a:off x="4425696" y="2011680"/>
            <a:ext cx="3328416" cy="38404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08576" y="2194560"/>
            <a:ext cx="2962656" cy="3474720"/>
          </a:xfrm>
          <a:prstGeom prst="rect">
            <a:avLst/>
          </a:prstGeom>
          <a:noFill/>
        </p:spPr>
        <p:txBody>
          <a:bodyPr wrap="square" lIns="0" tIns="0" rIns="0" bIns="0">
            <a:spAutoFit/>
          </a:bodyPr>
          <a:lstStyle/>
          <a:p>
            <a:pPr>
              <a:spcAft>
                <a:spcPts val="800"/>
              </a:spcAft>
              <a:defRPr sz="1500" b="1">
                <a:solidFill>
                  <a:srgbClr val="059669"/>
                </a:solidFill>
              </a:defRPr>
            </a:pPr>
            <a:r>
              <a:t>🚑 Zero Stranded Teams</a:t>
            </a:r>
          </a:p>
          <a:p>
            <a:pPr>
              <a:defRPr sz="1400" b="1">
                <a:solidFill>
                  <a:srgbClr val="E2E8F0"/>
                </a:solidFill>
              </a:defRPr>
            </a:pPr>
            <a:r>
              <a:t>First Responder Safety</a:t>
            </a:r>
          </a:p>
          <a:p>
            <a:pPr>
              <a:defRPr sz="1200">
                <a:solidFill>
                  <a:srgbClr val="94A3B8"/>
                </a:solidFill>
              </a:defRPr>
            </a:pPr>
            <a:r>
              <a:t>Safe Route Finder actively prevents ambulances and relief trucks from entering submerged road corridors by enforcing dry bypass routes and warning of severed infrastructure.</a:t>
            </a:r>
          </a:p>
        </p:txBody>
      </p:sp>
      <p:sp>
        <p:nvSpPr>
          <p:cNvPr id="7" name="Rounded Rectangle 6"/>
          <p:cNvSpPr/>
          <p:nvPr/>
        </p:nvSpPr>
        <p:spPr>
          <a:xfrm>
            <a:off x="8119872" y="2011680"/>
            <a:ext cx="3328416" cy="38404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02752" y="2194560"/>
            <a:ext cx="2962656" cy="3474720"/>
          </a:xfrm>
          <a:prstGeom prst="rect">
            <a:avLst/>
          </a:prstGeom>
          <a:noFill/>
        </p:spPr>
        <p:txBody>
          <a:bodyPr wrap="square" lIns="0" tIns="0" rIns="0" bIns="0">
            <a:spAutoFit/>
          </a:bodyPr>
          <a:lstStyle/>
          <a:p>
            <a:pPr>
              <a:spcAft>
                <a:spcPts val="800"/>
              </a:spcAft>
              <a:defRPr sz="1500" b="1">
                <a:solidFill>
                  <a:srgbClr val="D97706"/>
                </a:solidFill>
              </a:defRPr>
            </a:pPr>
            <a:r>
              <a:t>🤝 Localized Mutual Aid</a:t>
            </a:r>
          </a:p>
          <a:p>
            <a:pPr>
              <a:defRPr sz="1400" b="1">
                <a:solidFill>
                  <a:srgbClr val="E2E8F0"/>
                </a:solidFill>
              </a:defRPr>
            </a:pPr>
            <a:r>
              <a:t>Empowering Communities</a:t>
            </a:r>
          </a:p>
          <a:p>
            <a:pPr>
              <a:defRPr sz="1200">
                <a:solidFill>
                  <a:srgbClr val="94A3B8"/>
                </a:solidFill>
              </a:defRPr>
            </a:pPr>
            <a:r>
              <a:t>Connects stranded victims needing water, medical aid, or boats directly to volunteer donors on the map, removing bureaucratic delays in grassroots relief distribution.</a:t>
            </a:r>
          </a:p>
        </p:txBody>
      </p:sp>
      <p:sp>
        <p:nvSpPr>
          <p:cNvPr id="9" name="TextBox 8"/>
          <p:cNvSpPr txBox="1"/>
          <p:nvPr/>
        </p:nvSpPr>
        <p:spPr>
          <a:xfrm>
            <a:off x="731520" y="5943600"/>
            <a:ext cx="10698480" cy="457200"/>
          </a:xfrm>
          <a:prstGeom prst="rect">
            <a:avLst/>
          </a:prstGeom>
          <a:noFill/>
        </p:spPr>
        <p:txBody>
          <a:bodyPr wrap="none">
            <a:spAutoFit/>
          </a:bodyPr>
          <a:lstStyle/>
          <a:p>
            <a:pPr algn="ctr">
              <a:defRPr sz="1300" b="1">
                <a:solidFill>
                  <a:srgbClr val="38BDF8"/>
                </a:solidFill>
              </a:defRPr>
            </a:pPr>
            <a:r>
              <a:t>🌐 Live Application: https://flood-risk-monitor.onrender.com/    |    Ready for Immediate Deployment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